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84" r:id="rId2"/>
    <p:sldId id="257" r:id="rId3"/>
    <p:sldId id="258" r:id="rId4"/>
    <p:sldId id="259" r:id="rId5"/>
    <p:sldId id="260" r:id="rId6"/>
    <p:sldId id="256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3" r:id="rId15"/>
    <p:sldId id="274" r:id="rId16"/>
    <p:sldId id="287" r:id="rId17"/>
    <p:sldId id="280" r:id="rId18"/>
    <p:sldId id="281" r:id="rId19"/>
    <p:sldId id="288" r:id="rId20"/>
    <p:sldId id="285" r:id="rId21"/>
    <p:sldId id="262" r:id="rId22"/>
    <p:sldId id="263" r:id="rId23"/>
  </p:sldIdLst>
  <p:sldSz cx="12192000" cy="6858000"/>
  <p:notesSz cx="6858000" cy="9144000"/>
  <p:embeddedFontLst>
    <p:embeddedFont>
      <p:font typeface="Acumin Pro Medium" panose="020F0502020204030204" pitchFamily="34" charset="0"/>
      <p:regular r:id="rId25"/>
      <p:bold r:id="rId26"/>
      <p:italic r:id="rId27"/>
      <p:boldItalic r:id="rId28"/>
    </p:embeddedFont>
    <p:embeddedFont>
      <p:font typeface="Aptos SemiBold" panose="020B0004020202020204" pitchFamily="34" charset="0"/>
      <p:regular r:id="rId29"/>
      <p:bold r:id="rId30"/>
      <p:italic r:id="rId31"/>
      <p:boldItalic r:id="rId32"/>
    </p:embeddedFont>
    <p:embeddedFont>
      <p:font typeface="Inter" panose="02000503000000020004"/>
      <p:regular r:id="rId33"/>
      <p:bold r:id="rId34"/>
      <p:italic r:id="rId35"/>
      <p:boldItalic r:id="rId36"/>
    </p:embeddedFont>
    <p:embeddedFont>
      <p:font typeface="Montserrat" pitchFamily="2" charset="77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5563029F-37FF-B34D-9931-3B28A43121D6}">
          <p14:sldIdLst>
            <p14:sldId id="284"/>
          </p14:sldIdLst>
        </p14:section>
        <p14:section name="Overview" id="{E99847CB-4C6A-564E-80BC-0ADB5028D152}">
          <p14:sldIdLst>
            <p14:sldId id="257"/>
            <p14:sldId id="258"/>
            <p14:sldId id="259"/>
            <p14:sldId id="260"/>
            <p14:sldId id="256"/>
            <p14:sldId id="264"/>
            <p14:sldId id="265"/>
          </p14:sldIdLst>
        </p14:section>
        <p14:section name="Exploratory Analysis" id="{59D2FCC1-C468-304D-A6A4-25BD7198F445}">
          <p14:sldIdLst>
            <p14:sldId id="267"/>
            <p14:sldId id="268"/>
            <p14:sldId id="269"/>
            <p14:sldId id="270"/>
            <p14:sldId id="271"/>
          </p14:sldIdLst>
        </p14:section>
        <p14:section name="Modelling" id="{0AFCD7FD-1251-3146-A458-C342F1C43C63}">
          <p14:sldIdLst>
            <p14:sldId id="273"/>
            <p14:sldId id="274"/>
            <p14:sldId id="287"/>
          </p14:sldIdLst>
        </p14:section>
        <p14:section name="Results &amp; Insights" id="{21E0FB3C-02DE-5243-9972-FD06224F2394}">
          <p14:sldIdLst>
            <p14:sldId id="280"/>
            <p14:sldId id="281"/>
            <p14:sldId id="288"/>
            <p14:sldId id="285"/>
          </p14:sldIdLst>
        </p14:section>
        <p14:section name="Appendix" id="{BAD06E2A-03C4-8A42-A8E7-2E8D144693DC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D7BD46-8C83-F861-3210-6846BE1BEAE6}" v="776" dt="2026-03-05T22:37:02.885"/>
    <p1510:client id="{51451A87-4977-DA49-96EB-CC627B08015A}" v="1743" dt="2026-03-06T01:59:18.979"/>
    <p1510:client id="{81DE1CA1-7E5B-A94D-B02D-E40B31C8FD64}" v="6" dt="2026-03-05T22:39:14.009"/>
    <p1510:client id="{C429B005-4168-1619-5538-5F5FAFA6C80D}" v="13" dt="2026-03-05T23:00:32.619"/>
  </p1510:revLst>
</p1510:revInfo>
</file>

<file path=ppt/tableStyles.xml><?xml version="1.0" encoding="utf-8"?>
<a:tblStyleLst xmlns:a="http://schemas.openxmlformats.org/drawingml/2006/main" def="{555891C5-EBDD-475E-AD31-4251C65AAAA6}">
  <a:tblStyle styleId="{555891C5-EBDD-475E-AD31-4251C65AAAA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752"/>
  </p:normalViewPr>
  <p:slideViewPr>
    <p:cSldViewPr snapToGrid="0">
      <p:cViewPr varScale="1">
        <p:scale>
          <a:sx n="112" d="100"/>
          <a:sy n="112" d="100"/>
        </p:scale>
        <p:origin x="512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5B2E93D0-0F85-2044-FAE2-9C6E5A33C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>
            <a:extLst>
              <a:ext uri="{FF2B5EF4-FFF2-40B4-BE49-F238E27FC236}">
                <a16:creationId xmlns:a16="http://schemas.microsoft.com/office/drawing/2014/main" id="{EC7E5A8A-F53D-381A-5E77-08C39775E1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0:notes">
            <a:extLst>
              <a:ext uri="{FF2B5EF4-FFF2-40B4-BE49-F238E27FC236}">
                <a16:creationId xmlns:a16="http://schemas.microsoft.com/office/drawing/2014/main" id="{55D28BBB-6413-148D-9B9A-A6EB70A1F2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37550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urdue Logo" descr="Purdue Logo">
            <a:extLst>
              <a:ext uri="{FF2B5EF4-FFF2-40B4-BE49-F238E27FC236}">
                <a16:creationId xmlns:a16="http://schemas.microsoft.com/office/drawing/2014/main" id="{121060AA-930A-4F8F-D7F6-9CFE824946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7077" y="5756157"/>
            <a:ext cx="2709200" cy="48493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936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urdue Logo" descr="Purdue Logo">
            <a:extLst>
              <a:ext uri="{FF2B5EF4-FFF2-40B4-BE49-F238E27FC236}">
                <a16:creationId xmlns:a16="http://schemas.microsoft.com/office/drawing/2014/main" id="{D1A65555-63A8-D3C1-AA71-F25B3071BD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5070" y="5739119"/>
            <a:ext cx="2709200" cy="48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1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90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i="1" dirty="0">
                <a:solidFill>
                  <a:schemeClr val="bg1"/>
                </a:solidFill>
                <a:latin typeface="Aptos SemiBold" panose="020B0004020202020204" pitchFamily="34" charset="0"/>
              </a:rPr>
              <a:t>MGMT 590: </a:t>
            </a:r>
            <a:r>
              <a:rPr lang="en-US" sz="2000" i="1" dirty="0" err="1">
                <a:solidFill>
                  <a:schemeClr val="bg1"/>
                </a:solidFill>
                <a:latin typeface="Aptos SemiBold" panose="020B0004020202020204" pitchFamily="34" charset="0"/>
              </a:rPr>
              <a:t>BigData</a:t>
            </a:r>
            <a:r>
              <a:rPr lang="en-US" sz="2000" i="1" dirty="0">
                <a:solidFill>
                  <a:schemeClr val="bg1"/>
                </a:solidFill>
                <a:latin typeface="Aptos SemiBold" panose="020B0004020202020204" pitchFamily="34" charset="0"/>
              </a:rPr>
              <a:t> &amp; </a:t>
            </a:r>
            <a:r>
              <a:rPr lang="en-US" sz="2000" i="1" dirty="0" err="1">
                <a:solidFill>
                  <a:schemeClr val="bg1"/>
                </a:solidFill>
                <a:latin typeface="Aptos SemiBold" panose="020B0004020202020204" pitchFamily="34" charset="0"/>
              </a:rPr>
              <a:t>MLOps</a:t>
            </a:r>
            <a:r>
              <a:rPr lang="en-US" sz="2000" i="1" dirty="0">
                <a:solidFill>
                  <a:schemeClr val="bg1"/>
                </a:solidFill>
                <a:latin typeface="Aptos SemiBold" panose="020B0004020202020204" pitchFamily="34" charset="0"/>
              </a:rPr>
              <a:t> Final Project (Group 14)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40C208B-4602-B210-66E0-9C8B9BD76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6" y="2005070"/>
            <a:ext cx="8120744" cy="592834"/>
          </a:xfrm>
        </p:spPr>
        <p:txBody>
          <a:bodyPr/>
          <a:lstStyle/>
          <a:p>
            <a:r>
              <a:rPr lang="en-US" sz="3200" b="1" i="1" dirty="0">
                <a:latin typeface="Aptos" panose="020B0004020202020204" pitchFamily="34" charset="0"/>
                <a:cs typeface="Times New Roman" panose="02020603050405020304" pitchFamily="18" charset="0"/>
              </a:rPr>
              <a:t>Wine Analysis &amp; Recommendation System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C38948-C134-C887-EF35-A1FF699C5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110845"/>
              </p:ext>
            </p:extLst>
          </p:nvPr>
        </p:nvGraphicFramePr>
        <p:xfrm>
          <a:off x="1023257" y="4192072"/>
          <a:ext cx="6290197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1516">
                  <a:extLst>
                    <a:ext uri="{9D8B030D-6E8A-4147-A177-3AD203B41FA5}">
                      <a16:colId xmlns:a16="http://schemas.microsoft.com/office/drawing/2014/main" val="3149845318"/>
                    </a:ext>
                  </a:extLst>
                </a:gridCol>
                <a:gridCol w="1602386">
                  <a:extLst>
                    <a:ext uri="{9D8B030D-6E8A-4147-A177-3AD203B41FA5}">
                      <a16:colId xmlns:a16="http://schemas.microsoft.com/office/drawing/2014/main" val="1167871532"/>
                    </a:ext>
                  </a:extLst>
                </a:gridCol>
                <a:gridCol w="1452713">
                  <a:extLst>
                    <a:ext uri="{9D8B030D-6E8A-4147-A177-3AD203B41FA5}">
                      <a16:colId xmlns:a16="http://schemas.microsoft.com/office/drawing/2014/main" val="3364100210"/>
                    </a:ext>
                  </a:extLst>
                </a:gridCol>
                <a:gridCol w="1593582">
                  <a:extLst>
                    <a:ext uri="{9D8B030D-6E8A-4147-A177-3AD203B41FA5}">
                      <a16:colId xmlns:a16="http://schemas.microsoft.com/office/drawing/2014/main" val="2238764080"/>
                    </a:ext>
                  </a:extLst>
                </a:gridCol>
              </a:tblGrid>
              <a:tr h="161028"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Shreya Sunil Malvankar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Meghna Ashok Advani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Atharva Nimbalkar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Kashika Chopra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4136993"/>
                  </a:ext>
                </a:extLst>
              </a:tr>
              <a:tr h="16102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err="1">
                          <a:solidFill>
                            <a:schemeClr val="bg1"/>
                          </a:solidFill>
                        </a:rPr>
                        <a:t>smalvank@purdue.edu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advani3@purdue.edu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err="1">
                          <a:solidFill>
                            <a:schemeClr val="bg1"/>
                          </a:solidFill>
                        </a:rPr>
                        <a:t>animbal@purdue.edu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chopra72@purdue.edu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9364702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AD1B6664-DD2A-A75C-B2CA-1E18C7BF8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2082306"/>
            <a:ext cx="275542" cy="43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762000" y="544354"/>
            <a:ext cx="109513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Montserrat ExtraBold"/>
                <a:cs typeface="Montserrat ExtraBold"/>
                <a:sym typeface="Montserrat ExtraBold"/>
              </a:rPr>
              <a:t>PROJECT OVERVIEW</a:t>
            </a:r>
            <a:endParaRPr sz="2000" b="1" dirty="0">
              <a:latin typeface="Aptos" panose="020B0004020202020204" pitchFamily="34" charset="0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1252576"/>
            <a:ext cx="1075481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800" dirty="0">
                <a:latin typeface="Aptos" panose="020B0004020202020204" pitchFamily="34" charset="0"/>
              </a:rPr>
              <a:t>A comprehensive Big Data Analytics and </a:t>
            </a:r>
            <a:r>
              <a:rPr lang="en-US" sz="1800" dirty="0" err="1">
                <a:latin typeface="Aptos" panose="020B0004020202020204" pitchFamily="34" charset="0"/>
              </a:rPr>
              <a:t>MLOps</a:t>
            </a:r>
            <a:r>
              <a:rPr lang="en-US" sz="1800" dirty="0">
                <a:latin typeface="Aptos" panose="020B0004020202020204" pitchFamily="34" charset="0"/>
              </a:rPr>
              <a:t> project built on a real-world wine review dataset b</a:t>
            </a:r>
            <a:r>
              <a:rPr lang="en-US" sz="1800" b="0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uilt to bridge </a:t>
            </a:r>
            <a:r>
              <a:rPr lang="en-US" sz="1800" b="1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MongoDB Atlas</a:t>
            </a:r>
            <a:r>
              <a:rPr lang="en-US" sz="1800" b="0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 to </a:t>
            </a:r>
            <a:r>
              <a:rPr lang="en-US" sz="1800" b="1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Databricks</a:t>
            </a:r>
            <a:r>
              <a:rPr lang="en-US" sz="1800" b="0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 for advanced wine analysis and recommendation system.</a:t>
            </a:r>
            <a:endParaRPr sz="1800" dirty="0">
              <a:latin typeface="Aptos" panose="020B0004020202020204" pitchFamily="34" charset="0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648444" y="2624460"/>
            <a:ext cx="4427075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Primary Goal</a:t>
            </a:r>
            <a:r>
              <a:rPr lang="en-US" sz="1800" b="0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Demonstrating proficiency in distributed data engineering and </a:t>
            </a:r>
            <a:r>
              <a:rPr lang="en-US" sz="1800" b="0" i="0" u="none" strike="noStrike" cap="none" dirty="0" err="1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MLOps</a:t>
            </a:r>
            <a:r>
              <a:rPr lang="en-US" sz="1800" b="0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 by transforming raw NoSQL data into a production-ready model.</a:t>
            </a:r>
            <a:endParaRPr sz="1800" dirty="0">
              <a:latin typeface="Aptos" panose="020B0004020202020204" pitchFamily="34" charset="0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84514" y="2647612"/>
            <a:ext cx="3895830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Key features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129,971 Tasting Records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Distributed Spark Compute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Spark </a:t>
            </a:r>
            <a:r>
              <a:rPr lang="en-US" sz="1800" dirty="0" err="1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MLlib</a:t>
            </a:r>
            <a:r>
              <a:rPr lang="en-US" sz="1800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 NLP Modeling</a:t>
            </a:r>
            <a:endParaRPr lang="en-US" sz="1800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MLflow</a:t>
            </a:r>
            <a:r>
              <a:rPr lang="en-US" sz="1800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 Experiment Tracking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94;p14" descr="image.png">
            <a:extLst>
              <a:ext uri="{FF2B5EF4-FFF2-40B4-BE49-F238E27FC236}">
                <a16:creationId xmlns:a16="http://schemas.microsoft.com/office/drawing/2014/main" id="{2D39CDDF-75FB-77C6-31BB-11F3768AD0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4514" y="2595044"/>
            <a:ext cx="4710655" cy="2207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4;p14" descr="image.png">
            <a:extLst>
              <a:ext uri="{FF2B5EF4-FFF2-40B4-BE49-F238E27FC236}">
                <a16:creationId xmlns:a16="http://schemas.microsoft.com/office/drawing/2014/main" id="{ED459C4F-C77F-5CE1-BAB8-CF035DCAA5A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6655" y="2595044"/>
            <a:ext cx="4710655" cy="2207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664455" y="423529"/>
            <a:ext cx="109513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Montserrat ExtraBold"/>
                <a:cs typeface="Montserrat ExtraBold"/>
                <a:sym typeface="Montserrat ExtraBold"/>
              </a:rPr>
              <a:t>DATASET DESCRIPTION</a:t>
            </a:r>
            <a:endParaRPr sz="2400" b="1" dirty="0">
              <a:latin typeface="Aptos" panose="020B0004020202020204" pitchFamily="34" charset="0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762000" y="1000156"/>
            <a:ext cx="1095136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600" dirty="0"/>
              <a:t>The dataset consists of 129,971 wine review records sourced from the Wine Enthusiast magazine and stored in a MongoDB Atlas cluster </a:t>
            </a:r>
            <a:br>
              <a:rPr lang="en-US" sz="1600" dirty="0"/>
            </a:br>
            <a:br>
              <a:rPr lang="en-US" sz="1600" dirty="0"/>
            </a:br>
            <a:r>
              <a:rPr lang="en-US" sz="1600" i="1" dirty="0"/>
              <a:t>(</a:t>
            </a:r>
            <a:r>
              <a:rPr lang="en-US" sz="1600" b="1" i="1" dirty="0"/>
              <a:t>database</a:t>
            </a:r>
            <a:r>
              <a:rPr lang="en-US" sz="1600" i="1" dirty="0"/>
              <a:t>: wine, </a:t>
            </a:r>
            <a:r>
              <a:rPr lang="en-US" sz="1600" b="1" i="1" dirty="0"/>
              <a:t>collection:</a:t>
            </a:r>
            <a:r>
              <a:rPr lang="en-US" sz="1600" i="1" dirty="0"/>
              <a:t> tastings)</a:t>
            </a:r>
            <a:r>
              <a:rPr lang="en-US" sz="1600" dirty="0"/>
              <a:t> </a:t>
            </a:r>
            <a:endParaRPr sz="1600" dirty="0">
              <a:latin typeface="Aptos" panose="020B0004020202020204" pitchFamily="34" charset="0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762000" y="2069582"/>
            <a:ext cx="10668000" cy="19050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31C6FF-467C-81FA-1A26-5254A7B00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996412"/>
              </p:ext>
            </p:extLst>
          </p:nvPr>
        </p:nvGraphicFramePr>
        <p:xfrm>
          <a:off x="1844839" y="2210982"/>
          <a:ext cx="8526078" cy="4281732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2374894">
                  <a:extLst>
                    <a:ext uri="{9D8B030D-6E8A-4147-A177-3AD203B41FA5}">
                      <a16:colId xmlns:a16="http://schemas.microsoft.com/office/drawing/2014/main" val="2397103329"/>
                    </a:ext>
                  </a:extLst>
                </a:gridCol>
                <a:gridCol w="1385996">
                  <a:extLst>
                    <a:ext uri="{9D8B030D-6E8A-4147-A177-3AD203B41FA5}">
                      <a16:colId xmlns:a16="http://schemas.microsoft.com/office/drawing/2014/main" val="2003238274"/>
                    </a:ext>
                  </a:extLst>
                </a:gridCol>
                <a:gridCol w="4765188">
                  <a:extLst>
                    <a:ext uri="{9D8B030D-6E8A-4147-A177-3AD203B41FA5}">
                      <a16:colId xmlns:a16="http://schemas.microsoft.com/office/drawing/2014/main" val="4223635825"/>
                    </a:ext>
                  </a:extLst>
                </a:gridCol>
              </a:tblGrid>
              <a:tr h="32936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Field</a:t>
                      </a:r>
                      <a:endParaRPr lang="en-US" sz="1400" dirty="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Data Type</a:t>
                      </a:r>
                      <a:endParaRPr lang="en-US" sz="1400" dirty="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Description</a:t>
                      </a:r>
                      <a:endParaRPr lang="en-US" sz="1400" dirty="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6161697"/>
                  </a:ext>
                </a:extLst>
              </a:tr>
              <a:tr h="32936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points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Integer</a:t>
                      </a:r>
                      <a:endParaRPr lang="en-US" sz="1400" dirty="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Wine quality score rated by reviewer (80–100 scale)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6525509"/>
                  </a:ext>
                </a:extLst>
              </a:tr>
              <a:tr h="32936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price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Float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Retail price of the wine bottle in USD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6235049"/>
                  </a:ext>
                </a:extLst>
              </a:tr>
              <a:tr h="32936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title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Full title of the wine including vintage year and label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5810593"/>
                  </a:ext>
                </a:extLst>
              </a:tr>
              <a:tr h="32936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variety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Grape variety used (e.g. Pinot Noir, Chardonnay)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732817"/>
                  </a:ext>
                </a:extLst>
              </a:tr>
              <a:tr h="32936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description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Free-text tasting notes written by the reviewer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17365531"/>
                  </a:ext>
                </a:extLst>
              </a:tr>
              <a:tr h="32936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country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Country of origin of the wine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4868772"/>
                  </a:ext>
                </a:extLst>
              </a:tr>
              <a:tr h="32936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province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Province or state of production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1559796"/>
                  </a:ext>
                </a:extLst>
              </a:tr>
              <a:tr h="32936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region_1 / region_2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Specific geographic wine-growing region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9396860"/>
                  </a:ext>
                </a:extLst>
              </a:tr>
              <a:tr h="32936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winery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Name of the producing winery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2790102"/>
                  </a:ext>
                </a:extLst>
              </a:tr>
              <a:tr h="32936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designation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String</a:t>
                      </a:r>
                      <a:endParaRPr lang="en-US" sz="1400" dirty="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Specific vineyard or reserve label designation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7973484"/>
                  </a:ext>
                </a:extLst>
              </a:tr>
              <a:tr h="32936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taster_name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Name of the wine reviewer/taster</a:t>
                      </a:r>
                      <a:endParaRPr lang="en-US" sz="140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2002020"/>
                  </a:ext>
                </a:extLst>
              </a:tr>
              <a:tr h="32936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 err="1">
                          <a:effectLst/>
                        </a:rPr>
                        <a:t>taster_twitter_handle</a:t>
                      </a:r>
                      <a:endParaRPr lang="en-US" sz="1400" dirty="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String</a:t>
                      </a:r>
                      <a:endParaRPr lang="en-US" sz="1400" dirty="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Twitter handle of the reviewer</a:t>
                      </a:r>
                      <a:endParaRPr lang="en-US" sz="1400" dirty="0">
                        <a:solidFill>
                          <a:srgbClr val="0F4761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27167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745478" y="571500"/>
            <a:ext cx="109513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  <a:sym typeface="Montserrat ExtraBold"/>
              </a:rPr>
              <a:t>PROBLEM DEFINITION</a:t>
            </a:r>
            <a:endParaRPr sz="2400" b="1" dirty="0">
              <a:latin typeface="Aptos" panose="020B0004020202020204" pitchFamily="34" charset="0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4237435" y="2303857"/>
            <a:ext cx="44767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Core Research Question </a:t>
            </a:r>
            <a:endParaRPr sz="1800" dirty="0">
              <a:latin typeface="Aptos" panose="020B0004020202020204" pitchFamily="34" charset="0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FE7737-5B39-65EE-6B64-5559E9064F79}"/>
              </a:ext>
            </a:extLst>
          </p:cNvPr>
          <p:cNvSpPr txBox="1"/>
          <p:nvPr/>
        </p:nvSpPr>
        <p:spPr>
          <a:xfrm>
            <a:off x="827362" y="1369457"/>
            <a:ext cx="10671857" cy="64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>
              <a:lnSpc>
                <a:spcPct val="116000"/>
              </a:lnSpc>
              <a:spcBef>
                <a:spcPts val="300"/>
              </a:spcBef>
              <a:spcAft>
                <a:spcPts val="800"/>
              </a:spcAft>
              <a:buNone/>
            </a:pPr>
            <a:r>
              <a:rPr lang="en-US" sz="16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producers and retailers to consumers, each party involved lack scalable, objective tools to identify quality patterns, benchmark pricing, and predict whether a wine will be considered high-quality before purchasing</a:t>
            </a:r>
            <a:r>
              <a:rPr lang="en-US" sz="16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C7BC2E13-3471-AB19-7596-93FBCEC82D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64963"/>
              </p:ext>
            </p:extLst>
          </p:nvPr>
        </p:nvGraphicFramePr>
        <p:xfrm>
          <a:off x="1078996" y="2840945"/>
          <a:ext cx="10168587" cy="2206211"/>
        </p:xfrm>
        <a:graphic>
          <a:graphicData uri="http://schemas.openxmlformats.org/drawingml/2006/table">
            <a:tbl>
              <a:tblPr firstRow="1" bandRow="1"/>
              <a:tblGrid>
                <a:gridCol w="10168587">
                  <a:extLst>
                    <a:ext uri="{9D8B030D-6E8A-4147-A177-3AD203B41FA5}">
                      <a16:colId xmlns:a16="http://schemas.microsoft.com/office/drawing/2014/main" val="2197644577"/>
                    </a:ext>
                  </a:extLst>
                </a:gridCol>
              </a:tblGrid>
              <a:tr h="823519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500"/>
                        </a:spcAft>
                        <a:buClr>
                          <a:srgbClr val="000000"/>
                        </a:buClr>
                        <a:buSzTx/>
                        <a:buFont typeface="Symbol" pitchFamily="2" charset="2"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How can a scalable recommendation engine surface the best wines for any given flavor profile and budget constraint?</a:t>
                      </a:r>
                    </a:p>
                  </a:txBody>
                  <a:tcPr>
                    <a:lnL w="12700" cmpd="sng">
                      <a:solidFill>
                        <a:srgbClr val="FEFFFF"/>
                      </a:solidFill>
                    </a:lnL>
                    <a:lnR w="12700" cmpd="sng">
                      <a:solidFill>
                        <a:srgbClr val="FEFFFF"/>
                      </a:solidFill>
                    </a:lnR>
                    <a:lnT w="12700" cmpd="sng">
                      <a:solidFill>
                        <a:srgbClr val="FEFFFF"/>
                      </a:solidFill>
                    </a:lnT>
                    <a:lnB w="38100" cmpd="sng">
                      <a:solidFill>
                        <a:srgbClr val="FE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453734"/>
                  </a:ext>
                </a:extLst>
              </a:tr>
              <a:tr h="69134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b="0" i="0" dirty="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Can the textual content of a wine's description alone predict whether it will be rated as high-quality (≥87 points)?</a:t>
                      </a:r>
                    </a:p>
                  </a:txBody>
                  <a:tcPr>
                    <a:lnL w="12700" cmpd="sng">
                      <a:solidFill>
                        <a:srgbClr val="FEFFFF"/>
                      </a:solidFill>
                    </a:lnL>
                    <a:lnR w="12700" cmpd="sng">
                      <a:solidFill>
                        <a:srgbClr val="FEFFFF"/>
                      </a:solidFill>
                    </a:lnR>
                    <a:lnT w="38100" cmpd="sng">
                      <a:solidFill>
                        <a:srgbClr val="FEFFFF"/>
                      </a:solidFill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894558"/>
                  </a:ext>
                </a:extLst>
              </a:tr>
              <a:tr h="69134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b="0" i="0" dirty="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How can a scalable recommendation engine surface the best wines for any given flavor profile and budget constraint?</a:t>
                      </a:r>
                    </a:p>
                  </a:txBody>
                  <a:tcPr>
                    <a:lnL w="12700" cmpd="sng">
                      <a:solidFill>
                        <a:srgbClr val="FEFFFF"/>
                      </a:solidFill>
                    </a:lnL>
                    <a:lnR w="12700" cmpd="sng">
                      <a:solidFill>
                        <a:srgbClr val="FEFFFF"/>
                      </a:solidFill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E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388990"/>
                  </a:ext>
                </a:extLst>
              </a:tr>
            </a:tbl>
          </a:graphicData>
        </a:graphic>
      </p:graphicFrame>
      <p:pic>
        <p:nvPicPr>
          <p:cNvPr id="9" name="Google Shape;152;p16" descr="image.png">
            <a:extLst>
              <a:ext uri="{FF2B5EF4-FFF2-40B4-BE49-F238E27FC236}">
                <a16:creationId xmlns:a16="http://schemas.microsoft.com/office/drawing/2014/main" id="{F739B1C3-2030-5BA3-5CC4-ADF4D93EA7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34683" y="2386615"/>
            <a:ext cx="330722" cy="346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454965"/>
            <a:ext cx="34290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1500" y="2454965"/>
            <a:ext cx="34290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1000" y="2454965"/>
            <a:ext cx="34290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762000" y="744922"/>
            <a:ext cx="43401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Montserrat ExtraBold"/>
                <a:cs typeface="Montserrat ExtraBold"/>
                <a:sym typeface="Montserrat ExtraBold"/>
              </a:rPr>
              <a:t>BUSINESS CONTEXT</a:t>
            </a:r>
            <a:endParaRPr sz="2400" b="1" dirty="0">
              <a:latin typeface="Aptos" panose="020B0004020202020204" pitchFamily="34" charset="0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762000" y="1483586"/>
            <a:ext cx="10668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Data-driven curation allows for the identification of "under-the-radar" wines that score highly but are priced for high-volume sales.</a:t>
            </a:r>
            <a:endParaRPr sz="1600" dirty="0">
              <a:latin typeface="Aptos" panose="020B0004020202020204" pitchFamily="34" charset="0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1013026" y="2720735"/>
            <a:ext cx="2857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Montserrat ExtraBold"/>
                <a:cs typeface="Montserrat ExtraBold"/>
                <a:sym typeface="Montserrat ExtraBold"/>
              </a:rPr>
              <a:t>$340B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1679776" y="3429000"/>
            <a:ext cx="1524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GLOBAL WINE MARKET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4632526" y="2720735"/>
            <a:ext cx="2857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Montserrat ExtraBold"/>
                <a:cs typeface="Montserrat ExtraBold"/>
                <a:sym typeface="Montserrat ExtraBold"/>
              </a:rPr>
              <a:t>Curation</a:t>
            </a:r>
            <a:endParaRPr>
              <a:latin typeface="Aptos" panose="020B0004020202020204" pitchFamily="34" charset="0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5227838" y="3429000"/>
            <a:ext cx="16668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HIGH-STAKES DECISIONS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8252026" y="2720735"/>
            <a:ext cx="2857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Montserrat ExtraBold"/>
                <a:cs typeface="Montserrat ExtraBold"/>
                <a:sym typeface="Montserrat ExtraBold"/>
              </a:rPr>
              <a:t>Insights</a:t>
            </a:r>
            <a:endParaRPr>
              <a:latin typeface="Aptos" panose="020B0004020202020204" pitchFamily="34" charset="0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9037838" y="3429000"/>
            <a:ext cx="12858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COMPETITIVE EDGE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9B97A"/>
          </a:solidFill>
          <a:ln w="12700">
            <a:solidFill>
              <a:srgbClr val="C9B97A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4" name="Text 2"/>
          <p:cNvSpPr/>
          <p:nvPr/>
        </p:nvSpPr>
        <p:spPr>
          <a:xfrm>
            <a:off x="487680" y="109728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67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950976"/>
            <a:ext cx="79248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MongoDB wine reviews → Production ML recommendation system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26720" y="1292352"/>
            <a:ext cx="5486400" cy="707136"/>
          </a:xfrm>
          <a:prstGeom prst="rect">
            <a:avLst/>
          </a:prstGeom>
          <a:solidFill>
            <a:srgbClr val="F2EDE4"/>
          </a:solidFill>
          <a:ln w="6350">
            <a:solidFill>
              <a:srgbClr val="DDD5C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/>
          </a:p>
        </p:txBody>
      </p:sp>
      <p:sp>
        <p:nvSpPr>
          <p:cNvPr id="7" name="Shape 5"/>
          <p:cNvSpPr/>
          <p:nvPr/>
        </p:nvSpPr>
        <p:spPr>
          <a:xfrm>
            <a:off x="426720" y="1292352"/>
            <a:ext cx="85344" cy="707136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8" name="Shape 6"/>
          <p:cNvSpPr/>
          <p:nvPr/>
        </p:nvSpPr>
        <p:spPr>
          <a:xfrm>
            <a:off x="573024" y="1426464"/>
            <a:ext cx="438912" cy="438912"/>
          </a:xfrm>
          <a:prstGeom prst="ellipse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487424"/>
            <a:ext cx="341376" cy="3413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21664" y="1341120"/>
            <a:ext cx="46939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spc="133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DATA SOURCE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1121664" y="1499616"/>
            <a:ext cx="4693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333"/>
          </a:p>
        </p:txBody>
      </p:sp>
      <p:sp>
        <p:nvSpPr>
          <p:cNvPr id="12" name="Text 9"/>
          <p:cNvSpPr/>
          <p:nvPr/>
        </p:nvSpPr>
        <p:spPr>
          <a:xfrm>
            <a:off x="1121664" y="1719072"/>
            <a:ext cx="4693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129,971 wine review records · database: wine · collection: tastings</a:t>
            </a:r>
            <a:endParaRPr lang="en-US" sz="1000"/>
          </a:p>
        </p:txBody>
      </p:sp>
      <p:sp>
        <p:nvSpPr>
          <p:cNvPr id="13" name="Shape 10"/>
          <p:cNvSpPr/>
          <p:nvPr/>
        </p:nvSpPr>
        <p:spPr>
          <a:xfrm>
            <a:off x="3168701" y="1999488"/>
            <a:ext cx="0" cy="658368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  <p:txBody>
          <a:bodyPr/>
          <a:lstStyle/>
          <a:p>
            <a:endParaRPr lang="en-US" sz="1867"/>
          </a:p>
        </p:txBody>
      </p:sp>
      <p:sp>
        <p:nvSpPr>
          <p:cNvPr id="14" name="Shape 11"/>
          <p:cNvSpPr/>
          <p:nvPr/>
        </p:nvSpPr>
        <p:spPr>
          <a:xfrm>
            <a:off x="426720" y="2657856"/>
            <a:ext cx="5486400" cy="707136"/>
          </a:xfrm>
          <a:prstGeom prst="rect">
            <a:avLst/>
          </a:prstGeom>
          <a:solidFill>
            <a:srgbClr val="F2EDE4"/>
          </a:solidFill>
          <a:ln w="6350">
            <a:solidFill>
              <a:srgbClr val="DDD5C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/>
          </a:p>
        </p:txBody>
      </p:sp>
      <p:sp>
        <p:nvSpPr>
          <p:cNvPr id="15" name="Shape 12"/>
          <p:cNvSpPr/>
          <p:nvPr/>
        </p:nvSpPr>
        <p:spPr>
          <a:xfrm>
            <a:off x="426720" y="2657856"/>
            <a:ext cx="85344" cy="70713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16" name="Shape 13"/>
          <p:cNvSpPr/>
          <p:nvPr/>
        </p:nvSpPr>
        <p:spPr>
          <a:xfrm>
            <a:off x="573024" y="2791968"/>
            <a:ext cx="438912" cy="438912"/>
          </a:xfrm>
          <a:prstGeom prst="ellipse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852928"/>
            <a:ext cx="341376" cy="3413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21664" y="2706624"/>
            <a:ext cx="46939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spc="133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 INGESTION</a:t>
            </a:r>
            <a:endParaRPr lang="en-US" sz="1000"/>
          </a:p>
        </p:txBody>
      </p:sp>
      <p:sp>
        <p:nvSpPr>
          <p:cNvPr id="19" name="Text 15"/>
          <p:cNvSpPr/>
          <p:nvPr/>
        </p:nvSpPr>
        <p:spPr>
          <a:xfrm>
            <a:off x="1121664" y="2865120"/>
            <a:ext cx="4693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 → Pandas → Spark DataFrame</a:t>
            </a:r>
            <a:endParaRPr lang="en-US" sz="1333"/>
          </a:p>
        </p:txBody>
      </p:sp>
      <p:sp>
        <p:nvSpPr>
          <p:cNvPr id="20" name="Text 16"/>
          <p:cNvSpPr/>
          <p:nvPr/>
        </p:nvSpPr>
        <p:spPr>
          <a:xfrm>
            <a:off x="1121664" y="3084576"/>
            <a:ext cx="4693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ingestion · schema validation · temp SQL view registration</a:t>
            </a:r>
            <a:endParaRPr lang="en-US" sz="1000"/>
          </a:p>
        </p:txBody>
      </p:sp>
      <p:sp>
        <p:nvSpPr>
          <p:cNvPr id="21" name="Shape 17"/>
          <p:cNvSpPr/>
          <p:nvPr/>
        </p:nvSpPr>
        <p:spPr>
          <a:xfrm>
            <a:off x="3168701" y="3364992"/>
            <a:ext cx="0" cy="658368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  <p:txBody>
          <a:bodyPr/>
          <a:lstStyle/>
          <a:p>
            <a:endParaRPr lang="en-US" sz="1867"/>
          </a:p>
        </p:txBody>
      </p:sp>
      <p:sp>
        <p:nvSpPr>
          <p:cNvPr id="22" name="Shape 18"/>
          <p:cNvSpPr/>
          <p:nvPr/>
        </p:nvSpPr>
        <p:spPr>
          <a:xfrm>
            <a:off x="426720" y="4023360"/>
            <a:ext cx="5486400" cy="707136"/>
          </a:xfrm>
          <a:prstGeom prst="rect">
            <a:avLst/>
          </a:prstGeom>
          <a:solidFill>
            <a:srgbClr val="F2EDE4"/>
          </a:solidFill>
          <a:ln w="6350">
            <a:solidFill>
              <a:srgbClr val="DDD5C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/>
          </a:p>
        </p:txBody>
      </p:sp>
      <p:sp>
        <p:nvSpPr>
          <p:cNvPr id="23" name="Shape 19"/>
          <p:cNvSpPr/>
          <p:nvPr/>
        </p:nvSpPr>
        <p:spPr>
          <a:xfrm>
            <a:off x="426720" y="4023360"/>
            <a:ext cx="85344" cy="707136"/>
          </a:xfrm>
          <a:prstGeom prst="rect">
            <a:avLst/>
          </a:prstGeom>
          <a:solidFill>
            <a:srgbClr val="C68B2F"/>
          </a:solidFill>
          <a:ln w="12700">
            <a:solidFill>
              <a:srgbClr val="C68B2F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24" name="Shape 20"/>
          <p:cNvSpPr/>
          <p:nvPr/>
        </p:nvSpPr>
        <p:spPr>
          <a:xfrm>
            <a:off x="573024" y="4157472"/>
            <a:ext cx="438912" cy="438912"/>
          </a:xfrm>
          <a:prstGeom prst="ellipse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218432"/>
            <a:ext cx="341376" cy="3413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21664" y="4072128"/>
            <a:ext cx="46939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spc="133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DISTRIBUTED PROCESSING</a:t>
            </a:r>
            <a:endParaRPr lang="en-US" sz="1000"/>
          </a:p>
        </p:txBody>
      </p:sp>
      <p:sp>
        <p:nvSpPr>
          <p:cNvPr id="27" name="Text 22"/>
          <p:cNvSpPr/>
          <p:nvPr/>
        </p:nvSpPr>
        <p:spPr>
          <a:xfrm>
            <a:off x="1121664" y="4230624"/>
            <a:ext cx="4693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on Databricks</a:t>
            </a:r>
            <a:endParaRPr lang="en-US" sz="1333"/>
          </a:p>
        </p:txBody>
      </p:sp>
      <p:sp>
        <p:nvSpPr>
          <p:cNvPr id="28" name="Text 23"/>
          <p:cNvSpPr/>
          <p:nvPr/>
        </p:nvSpPr>
        <p:spPr>
          <a:xfrm>
            <a:off x="1121664" y="4450080"/>
            <a:ext cx="4693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feature engineering · Spark SQL aggregations</a:t>
            </a:r>
            <a:endParaRPr lang="en-US" sz="1000"/>
          </a:p>
        </p:txBody>
      </p:sp>
      <p:sp>
        <p:nvSpPr>
          <p:cNvPr id="29" name="Shape 24"/>
          <p:cNvSpPr/>
          <p:nvPr/>
        </p:nvSpPr>
        <p:spPr>
          <a:xfrm>
            <a:off x="3168701" y="4730496"/>
            <a:ext cx="0" cy="658368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  <p:txBody>
          <a:bodyPr/>
          <a:lstStyle/>
          <a:p>
            <a:endParaRPr lang="en-US" sz="1867"/>
          </a:p>
        </p:txBody>
      </p:sp>
      <p:sp>
        <p:nvSpPr>
          <p:cNvPr id="30" name="Shape 25"/>
          <p:cNvSpPr/>
          <p:nvPr/>
        </p:nvSpPr>
        <p:spPr>
          <a:xfrm>
            <a:off x="426720" y="5388864"/>
            <a:ext cx="5486400" cy="707136"/>
          </a:xfrm>
          <a:prstGeom prst="rect">
            <a:avLst/>
          </a:prstGeom>
          <a:solidFill>
            <a:srgbClr val="F2EDE4"/>
          </a:solidFill>
          <a:ln w="6350">
            <a:solidFill>
              <a:srgbClr val="DDD5C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/>
          </a:p>
        </p:txBody>
      </p:sp>
      <p:sp>
        <p:nvSpPr>
          <p:cNvPr id="31" name="Shape 26"/>
          <p:cNvSpPr/>
          <p:nvPr/>
        </p:nvSpPr>
        <p:spPr>
          <a:xfrm>
            <a:off x="426720" y="5388864"/>
            <a:ext cx="85344" cy="707136"/>
          </a:xfrm>
          <a:prstGeom prst="rect">
            <a:avLst/>
          </a:prstGeom>
          <a:solidFill>
            <a:srgbClr val="5A8A5A"/>
          </a:solidFill>
          <a:ln w="12700">
            <a:solidFill>
              <a:srgbClr val="5A8A5A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32" name="Shape 27"/>
          <p:cNvSpPr/>
          <p:nvPr/>
        </p:nvSpPr>
        <p:spPr>
          <a:xfrm>
            <a:off x="573024" y="5522976"/>
            <a:ext cx="438912" cy="438912"/>
          </a:xfrm>
          <a:prstGeom prst="ellipse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5583936"/>
            <a:ext cx="341376" cy="34137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121664" y="5437632"/>
            <a:ext cx="46939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spc="133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FEATURE STORAGE</a:t>
            </a:r>
            <a:endParaRPr lang="en-US" sz="1000"/>
          </a:p>
        </p:txBody>
      </p:sp>
      <p:sp>
        <p:nvSpPr>
          <p:cNvPr id="35" name="Text 29"/>
          <p:cNvSpPr/>
          <p:nvPr/>
        </p:nvSpPr>
        <p:spPr>
          <a:xfrm>
            <a:off x="1121664" y="5596128"/>
            <a:ext cx="4693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Parquet · Unity Catalog Volume</a:t>
            </a:r>
            <a:endParaRPr lang="en-US" sz="1333"/>
          </a:p>
        </p:txBody>
      </p:sp>
      <p:sp>
        <p:nvSpPr>
          <p:cNvPr id="36" name="Text 30"/>
          <p:cNvSpPr/>
          <p:nvPr/>
        </p:nvSpPr>
        <p:spPr>
          <a:xfrm>
            <a:off x="1121664" y="5815584"/>
            <a:ext cx="4693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compression · predicate pushdown · reduced query latency</a:t>
            </a:r>
            <a:endParaRPr lang="en-US" sz="1000"/>
          </a:p>
        </p:txBody>
      </p:sp>
      <p:sp>
        <p:nvSpPr>
          <p:cNvPr id="37" name="Shape 31"/>
          <p:cNvSpPr/>
          <p:nvPr/>
        </p:nvSpPr>
        <p:spPr>
          <a:xfrm>
            <a:off x="6400800" y="1292352"/>
            <a:ext cx="5486400" cy="707136"/>
          </a:xfrm>
          <a:prstGeom prst="rect">
            <a:avLst/>
          </a:prstGeom>
          <a:solidFill>
            <a:srgbClr val="F2EDE4"/>
          </a:solidFill>
          <a:ln w="6350">
            <a:solidFill>
              <a:srgbClr val="DDD5C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/>
          </a:p>
        </p:txBody>
      </p:sp>
      <p:sp>
        <p:nvSpPr>
          <p:cNvPr id="38" name="Shape 32"/>
          <p:cNvSpPr/>
          <p:nvPr/>
        </p:nvSpPr>
        <p:spPr>
          <a:xfrm>
            <a:off x="6400800" y="1292352"/>
            <a:ext cx="85344" cy="70713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39" name="Shape 33"/>
          <p:cNvSpPr/>
          <p:nvPr/>
        </p:nvSpPr>
        <p:spPr>
          <a:xfrm>
            <a:off x="6547104" y="1426464"/>
            <a:ext cx="438912" cy="438912"/>
          </a:xfrm>
          <a:prstGeom prst="ellipse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5872" y="1487424"/>
            <a:ext cx="341376" cy="34137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095744" y="1341120"/>
            <a:ext cx="46939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spc="133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ML PIPELINE</a:t>
            </a:r>
            <a:endParaRPr lang="en-US" sz="1000"/>
          </a:p>
        </p:txBody>
      </p:sp>
      <p:sp>
        <p:nvSpPr>
          <p:cNvPr id="42" name="Text 35"/>
          <p:cNvSpPr/>
          <p:nvPr/>
        </p:nvSpPr>
        <p:spPr>
          <a:xfrm>
            <a:off x="7095744" y="1499616"/>
            <a:ext cx="4693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 · 6-Stage NLP Pipeline</a:t>
            </a:r>
            <a:endParaRPr lang="en-US" sz="1333"/>
          </a:p>
        </p:txBody>
      </p:sp>
      <p:sp>
        <p:nvSpPr>
          <p:cNvPr id="43" name="Text 36"/>
          <p:cNvSpPr/>
          <p:nvPr/>
        </p:nvSpPr>
        <p:spPr>
          <a:xfrm>
            <a:off x="7095744" y="1719072"/>
            <a:ext cx="4693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→ StopWords → NGram → HashingTF → IDF → LogisticRegression</a:t>
            </a:r>
            <a:endParaRPr lang="en-US" sz="1000"/>
          </a:p>
        </p:txBody>
      </p:sp>
      <p:sp>
        <p:nvSpPr>
          <p:cNvPr id="44" name="Shape 37"/>
          <p:cNvSpPr/>
          <p:nvPr/>
        </p:nvSpPr>
        <p:spPr>
          <a:xfrm>
            <a:off x="9142781" y="1999488"/>
            <a:ext cx="0" cy="134112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  <p:txBody>
          <a:bodyPr/>
          <a:lstStyle/>
          <a:p>
            <a:endParaRPr lang="en-US" sz="1867"/>
          </a:p>
        </p:txBody>
      </p:sp>
      <p:sp>
        <p:nvSpPr>
          <p:cNvPr id="45" name="Shape 38"/>
          <p:cNvSpPr/>
          <p:nvPr/>
        </p:nvSpPr>
        <p:spPr>
          <a:xfrm>
            <a:off x="6400800" y="3340608"/>
            <a:ext cx="5486400" cy="707136"/>
          </a:xfrm>
          <a:prstGeom prst="rect">
            <a:avLst/>
          </a:prstGeom>
          <a:solidFill>
            <a:srgbClr val="F2EDE4"/>
          </a:solidFill>
          <a:ln w="6350">
            <a:solidFill>
              <a:srgbClr val="DDD5C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/>
          </a:p>
        </p:txBody>
      </p:sp>
      <p:sp>
        <p:nvSpPr>
          <p:cNvPr id="46" name="Shape 39"/>
          <p:cNvSpPr/>
          <p:nvPr/>
        </p:nvSpPr>
        <p:spPr>
          <a:xfrm>
            <a:off x="6400800" y="3340608"/>
            <a:ext cx="85344" cy="7071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47" name="Shape 40"/>
          <p:cNvSpPr/>
          <p:nvPr/>
        </p:nvSpPr>
        <p:spPr>
          <a:xfrm>
            <a:off x="6547104" y="3474720"/>
            <a:ext cx="438912" cy="438912"/>
          </a:xfrm>
          <a:prstGeom prst="ellipse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5872" y="3535680"/>
            <a:ext cx="341376" cy="341376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7095744" y="3389376"/>
            <a:ext cx="46939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spc="133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EXPERIMENT TRACKING</a:t>
            </a:r>
            <a:endParaRPr lang="en-US" sz="1000"/>
          </a:p>
        </p:txBody>
      </p:sp>
      <p:sp>
        <p:nvSpPr>
          <p:cNvPr id="50" name="Text 42"/>
          <p:cNvSpPr/>
          <p:nvPr/>
        </p:nvSpPr>
        <p:spPr>
          <a:xfrm>
            <a:off x="7095744" y="3547872"/>
            <a:ext cx="4693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· MLOps Layer</a:t>
            </a:r>
            <a:endParaRPr lang="en-US" sz="1333"/>
          </a:p>
        </p:txBody>
      </p:sp>
      <p:sp>
        <p:nvSpPr>
          <p:cNvPr id="51" name="Text 43"/>
          <p:cNvSpPr/>
          <p:nvPr/>
        </p:nvSpPr>
        <p:spPr>
          <a:xfrm>
            <a:off x="7095744" y="3767328"/>
            <a:ext cx="4693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0.9086 · versioned artifacts · run metadata · model registry</a:t>
            </a:r>
            <a:endParaRPr lang="en-US" sz="1000"/>
          </a:p>
        </p:txBody>
      </p:sp>
      <p:sp>
        <p:nvSpPr>
          <p:cNvPr id="52" name="Shape 44"/>
          <p:cNvSpPr/>
          <p:nvPr/>
        </p:nvSpPr>
        <p:spPr>
          <a:xfrm>
            <a:off x="9142781" y="4047744"/>
            <a:ext cx="0" cy="134112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  <p:txBody>
          <a:bodyPr/>
          <a:lstStyle/>
          <a:p>
            <a:endParaRPr lang="en-US" sz="1867"/>
          </a:p>
        </p:txBody>
      </p:sp>
      <p:sp>
        <p:nvSpPr>
          <p:cNvPr id="53" name="Shape 45"/>
          <p:cNvSpPr/>
          <p:nvPr/>
        </p:nvSpPr>
        <p:spPr>
          <a:xfrm>
            <a:off x="6400800" y="5388864"/>
            <a:ext cx="5486400" cy="707136"/>
          </a:xfrm>
          <a:prstGeom prst="rect">
            <a:avLst/>
          </a:prstGeom>
          <a:solidFill>
            <a:srgbClr val="F2EDE4"/>
          </a:solidFill>
          <a:ln w="6350">
            <a:solidFill>
              <a:srgbClr val="DDD5C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/>
          </a:p>
        </p:txBody>
      </p:sp>
      <p:sp>
        <p:nvSpPr>
          <p:cNvPr id="54" name="Shape 46"/>
          <p:cNvSpPr/>
          <p:nvPr/>
        </p:nvSpPr>
        <p:spPr>
          <a:xfrm>
            <a:off x="6400800" y="5388864"/>
            <a:ext cx="85344" cy="7071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55" name="Shape 47"/>
          <p:cNvSpPr/>
          <p:nvPr/>
        </p:nvSpPr>
        <p:spPr>
          <a:xfrm>
            <a:off x="6547104" y="5522976"/>
            <a:ext cx="438912" cy="438912"/>
          </a:xfrm>
          <a:prstGeom prst="ellipse">
            <a:avLst/>
          </a:prstGeom>
          <a:solidFill>
            <a:srgbClr val="FFFFFF"/>
          </a:solidFill>
          <a:ln w="635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5872" y="5583936"/>
            <a:ext cx="341376" cy="341376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7095744" y="5437632"/>
            <a:ext cx="46939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spc="133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APPLICATION LAYER</a:t>
            </a:r>
            <a:endParaRPr lang="en-US" sz="1000"/>
          </a:p>
        </p:txBody>
      </p:sp>
      <p:sp>
        <p:nvSpPr>
          <p:cNvPr id="58" name="Text 49"/>
          <p:cNvSpPr/>
          <p:nvPr/>
        </p:nvSpPr>
        <p:spPr>
          <a:xfrm>
            <a:off x="7095744" y="5596128"/>
            <a:ext cx="4693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Recommendation Engine (PySpark)</a:t>
            </a:r>
            <a:endParaRPr lang="en-US" sz="1333"/>
          </a:p>
        </p:txBody>
      </p:sp>
      <p:sp>
        <p:nvSpPr>
          <p:cNvPr id="59" name="Text 50"/>
          <p:cNvSpPr/>
          <p:nvPr/>
        </p:nvSpPr>
        <p:spPr>
          <a:xfrm>
            <a:off x="7095744" y="5815584"/>
            <a:ext cx="46939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flavor keyword + max price · Output: Top 10 wines by critic score</a:t>
            </a:r>
            <a:endParaRPr lang="en-US" sz="1000"/>
          </a:p>
        </p:txBody>
      </p:sp>
      <p:sp>
        <p:nvSpPr>
          <p:cNvPr id="60" name="Shape 51"/>
          <p:cNvSpPr/>
          <p:nvPr/>
        </p:nvSpPr>
        <p:spPr>
          <a:xfrm>
            <a:off x="5913120" y="5742432"/>
            <a:ext cx="304800" cy="0"/>
          </a:xfrm>
          <a:prstGeom prst="line">
            <a:avLst/>
          </a:prstGeom>
          <a:noFill/>
          <a:ln w="25400">
            <a:solidFill>
              <a:srgbClr val="C9B97A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61" name="Shape 52"/>
          <p:cNvSpPr/>
          <p:nvPr/>
        </p:nvSpPr>
        <p:spPr>
          <a:xfrm>
            <a:off x="6217920" y="1645920"/>
            <a:ext cx="0" cy="4096512"/>
          </a:xfrm>
          <a:prstGeom prst="line">
            <a:avLst/>
          </a:prstGeom>
          <a:noFill/>
          <a:ln w="25400">
            <a:solidFill>
              <a:srgbClr val="C9B97A"/>
            </a:solidFill>
            <a:prstDash val="solid"/>
          </a:ln>
        </p:spPr>
        <p:txBody>
          <a:bodyPr/>
          <a:lstStyle/>
          <a:p>
            <a:endParaRPr lang="en-US" sz="1867"/>
          </a:p>
        </p:txBody>
      </p:sp>
      <p:sp>
        <p:nvSpPr>
          <p:cNvPr id="62" name="Shape 53"/>
          <p:cNvSpPr/>
          <p:nvPr/>
        </p:nvSpPr>
        <p:spPr>
          <a:xfrm>
            <a:off x="6217920" y="1645920"/>
            <a:ext cx="182880" cy="0"/>
          </a:xfrm>
          <a:prstGeom prst="line">
            <a:avLst/>
          </a:prstGeom>
          <a:noFill/>
          <a:ln w="25400">
            <a:solidFill>
              <a:srgbClr val="C9B97A"/>
            </a:solidFill>
            <a:prstDash val="solid"/>
            <a:tailEnd type="arrow"/>
          </a:ln>
        </p:spPr>
        <p:txBody>
          <a:bodyPr/>
          <a:lstStyle/>
          <a:p>
            <a:endParaRPr lang="en-US" sz="1867"/>
          </a:p>
        </p:txBody>
      </p:sp>
      <p:sp>
        <p:nvSpPr>
          <p:cNvPr id="66" name="Shape 57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chemeClr val="tx1"/>
          </a:solidFill>
          <a:ln w="12700">
            <a:solidFill>
              <a:srgbClr val="C9B97A"/>
            </a:solidFill>
            <a:prstDash val="solid"/>
          </a:ln>
        </p:spPr>
        <p:txBody>
          <a:bodyPr/>
          <a:lstStyle/>
          <a:p>
            <a:endParaRPr lang="en-US" sz="1867">
              <a:solidFill>
                <a:schemeClr val="tx1"/>
              </a:solidFill>
            </a:endParaRPr>
          </a:p>
        </p:txBody>
      </p:sp>
      <p:sp>
        <p:nvSpPr>
          <p:cNvPr id="67" name="Text 58"/>
          <p:cNvSpPr/>
          <p:nvPr/>
        </p:nvSpPr>
        <p:spPr>
          <a:xfrm>
            <a:off x="6888480" y="963168"/>
            <a:ext cx="4998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spc="200">
                <a:solidFill>
                  <a:srgbClr val="C9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APPLICATION LAYER</a:t>
            </a:r>
            <a:endParaRPr lang="en-US" sz="10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BFBFF0-05D8-BE92-C3DD-F99B4D691EC7}"/>
              </a:ext>
            </a:extLst>
          </p:cNvPr>
          <p:cNvSpPr txBox="1"/>
          <p:nvPr/>
        </p:nvSpPr>
        <p:spPr>
          <a:xfrm>
            <a:off x="10422194" y="2556387"/>
            <a:ext cx="18473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67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548709" y="698825"/>
            <a:ext cx="109513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Montserrat ExtraBold"/>
                <a:cs typeface="Montserrat ExtraBold"/>
                <a:sym typeface="Montserrat ExtraBold"/>
              </a:rPr>
              <a:t>INGESTION WORKFLOW</a:t>
            </a:r>
            <a:endParaRPr sz="2400" b="1" dirty="0">
              <a:latin typeface="Aptos" panose="020B0004020202020204" pitchFamily="34" charset="0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1464224" y="1400175"/>
            <a:ext cx="1003585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dirty="0">
                <a:latin typeface="Aptos" panose="020B0004020202020204" pitchFamily="34" charset="0"/>
              </a:rPr>
              <a:t>The Spark </a:t>
            </a:r>
            <a:r>
              <a:rPr lang="en-US" sz="1600" dirty="0" err="1">
                <a:latin typeface="Aptos" panose="020B0004020202020204" pitchFamily="34" charset="0"/>
              </a:rPr>
              <a:t>DataFrame</a:t>
            </a:r>
            <a:r>
              <a:rPr lang="en-US" sz="1600" dirty="0">
                <a:latin typeface="Aptos" panose="020B0004020202020204" pitchFamily="34" charset="0"/>
              </a:rPr>
              <a:t> was immediately registered as a temporary SQL view (</a:t>
            </a:r>
            <a:r>
              <a:rPr lang="en-US" sz="1600" dirty="0" err="1">
                <a:latin typeface="Aptos" panose="020B0004020202020204" pitchFamily="34" charset="0"/>
              </a:rPr>
              <a:t>wine_raw</a:t>
            </a:r>
            <a:r>
              <a:rPr lang="en-US" sz="1600" dirty="0">
                <a:latin typeface="Aptos" panose="020B0004020202020204" pitchFamily="34" charset="0"/>
              </a:rPr>
              <a:t>) to enable Spark SQL querying throughout the project. Schema validation was performed using Spark's </a:t>
            </a:r>
            <a:r>
              <a:rPr lang="en-US" sz="1600" i="1" dirty="0" err="1">
                <a:latin typeface="Aptos" panose="020B0004020202020204" pitchFamily="34" charset="0"/>
              </a:rPr>
              <a:t>printSchema</a:t>
            </a:r>
            <a:r>
              <a:rPr lang="en-US" sz="1600" i="1" dirty="0">
                <a:latin typeface="Aptos" panose="020B0004020202020204" pitchFamily="34" charset="0"/>
              </a:rPr>
              <a:t>()</a:t>
            </a:r>
            <a:r>
              <a:rPr lang="en-US" sz="1600" dirty="0">
                <a:latin typeface="Aptos" panose="020B0004020202020204" pitchFamily="34" charset="0"/>
              </a:rPr>
              <a:t>, confirming 14 fields with correct inferred types.</a:t>
            </a:r>
          </a:p>
        </p:txBody>
      </p:sp>
      <p:sp>
        <p:nvSpPr>
          <p:cNvPr id="260" name="Google Shape;260;p21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793795-D91A-95A5-8F5D-C48B213F3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518" y="2368310"/>
            <a:ext cx="8748963" cy="32728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597166" y="419829"/>
            <a:ext cx="109513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Montserrat ExtraBold"/>
                <a:cs typeface="Montserrat ExtraBold"/>
                <a:sym typeface="Montserrat ExtraBold"/>
              </a:rPr>
              <a:t>FEATURE ENGINEERING &amp; COLUMNAR STORAGE</a:t>
            </a:r>
            <a:endParaRPr lang="en-US" sz="2400" b="1" dirty="0">
              <a:latin typeface="Aptos" panose="020B0004020202020204" pitchFamily="34" charset="0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3B98035F-9B18-C516-E242-5BB81E0617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7314331"/>
              </p:ext>
            </p:extLst>
          </p:nvPr>
        </p:nvGraphicFramePr>
        <p:xfrm>
          <a:off x="1504709" y="1040853"/>
          <a:ext cx="9549112" cy="2388148"/>
        </p:xfrm>
        <a:graphic>
          <a:graphicData uri="http://schemas.openxmlformats.org/drawingml/2006/table">
            <a:tbl>
              <a:tblPr firstRow="1" bandRow="1"/>
              <a:tblGrid>
                <a:gridCol w="2387278">
                  <a:extLst>
                    <a:ext uri="{9D8B030D-6E8A-4147-A177-3AD203B41FA5}">
                      <a16:colId xmlns:a16="http://schemas.microsoft.com/office/drawing/2014/main" val="2197644577"/>
                    </a:ext>
                  </a:extLst>
                </a:gridCol>
                <a:gridCol w="2387278">
                  <a:extLst>
                    <a:ext uri="{9D8B030D-6E8A-4147-A177-3AD203B41FA5}">
                      <a16:colId xmlns:a16="http://schemas.microsoft.com/office/drawing/2014/main" val="1525852292"/>
                    </a:ext>
                  </a:extLst>
                </a:gridCol>
                <a:gridCol w="2387278">
                  <a:extLst>
                    <a:ext uri="{9D8B030D-6E8A-4147-A177-3AD203B41FA5}">
                      <a16:colId xmlns:a16="http://schemas.microsoft.com/office/drawing/2014/main" val="401346082"/>
                    </a:ext>
                  </a:extLst>
                </a:gridCol>
                <a:gridCol w="2387278">
                  <a:extLst>
                    <a:ext uri="{9D8B030D-6E8A-4147-A177-3AD203B41FA5}">
                      <a16:colId xmlns:a16="http://schemas.microsoft.com/office/drawing/2014/main" val="98337987"/>
                    </a:ext>
                  </a:extLst>
                </a:gridCol>
              </a:tblGrid>
              <a:tr h="38637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cap="none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ea typeface="Montserrat"/>
                          <a:cs typeface="Montserrat"/>
                          <a:sym typeface="Montserrat"/>
                        </a:rPr>
                        <a:t>NLP Scrubbing</a:t>
                      </a:r>
                      <a:endParaRPr lang="en-US" sz="1600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FEFFFF"/>
                      </a:solidFill>
                    </a:lnL>
                    <a:lnR w="12700" cmpd="sng">
                      <a:solidFill>
                        <a:srgbClr val="FEFFFF"/>
                      </a:solidFill>
                    </a:lnR>
                    <a:lnT w="12700" cmpd="sng">
                      <a:solidFill>
                        <a:srgbClr val="FEFFFF"/>
                      </a:solidFill>
                    </a:lnT>
                    <a:lnB w="38100" cmpd="sng">
                      <a:solidFill>
                        <a:srgbClr val="FE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85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cap="none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ea typeface="Montserrat"/>
                          <a:cs typeface="Montserrat"/>
                          <a:sym typeface="Montserrat"/>
                        </a:rPr>
                        <a:t>Binary Labeling</a:t>
                      </a:r>
                      <a:endParaRPr lang="en-US" sz="1600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FEFFFF"/>
                      </a:solidFill>
                    </a:lnL>
                    <a:lnR w="12700" cmpd="sng">
                      <a:solidFill>
                        <a:srgbClr val="FEFFFF"/>
                      </a:solidFill>
                    </a:lnR>
                    <a:lnT w="12700" cmpd="sng">
                      <a:solidFill>
                        <a:srgbClr val="FEFFFF"/>
                      </a:solidFill>
                    </a:lnT>
                    <a:lnB w="38100" cmpd="sng">
                      <a:solidFill>
                        <a:srgbClr val="FE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B89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cap="none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ea typeface="Montserrat"/>
                          <a:cs typeface="Montserrat"/>
                          <a:sym typeface="Montserrat"/>
                        </a:rPr>
                        <a:t>Bucketing</a:t>
                      </a:r>
                      <a:endParaRPr lang="en-US" sz="1600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FEFFFF"/>
                      </a:solidFill>
                    </a:lnL>
                    <a:lnR w="12700" cmpd="sng">
                      <a:solidFill>
                        <a:srgbClr val="FEFFFF"/>
                      </a:solidFill>
                    </a:lnR>
                    <a:lnT w="12700" cmpd="sng">
                      <a:solidFill>
                        <a:srgbClr val="FEFFFF"/>
                      </a:solidFill>
                    </a:lnT>
                    <a:lnB w="38100" cmpd="sng">
                      <a:solidFill>
                        <a:srgbClr val="FE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85F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cap="none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ea typeface="Montserrat"/>
                          <a:cs typeface="Montserrat"/>
                          <a:sym typeface="Montserrat"/>
                        </a:rPr>
                        <a:t>Null Management</a:t>
                      </a:r>
                      <a:endParaRPr lang="en-US" sz="1600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FEFFFF"/>
                      </a:solidFill>
                    </a:lnL>
                    <a:lnR w="12700" cmpd="sng">
                      <a:solidFill>
                        <a:srgbClr val="FEFFFF"/>
                      </a:solidFill>
                    </a:lnR>
                    <a:lnT w="12700" cmpd="sng">
                      <a:solidFill>
                        <a:srgbClr val="FEFFFF"/>
                      </a:solidFill>
                    </a:lnT>
                    <a:lnB w="38100" cmpd="sng">
                      <a:solidFill>
                        <a:srgbClr val="FE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85F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566725"/>
                  </a:ext>
                </a:extLst>
              </a:tr>
              <a:tr h="200177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Lowercasing and punctuation stripping using Spark Regex for clean modeling tokens.</a:t>
                      </a:r>
                      <a:endParaRPr lang="en-US" sz="16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FEFFFF"/>
                      </a:solidFill>
                    </a:lnL>
                    <a:lnR w="12700" cmpd="sng">
                      <a:solidFill>
                        <a:srgbClr val="FEFFFF"/>
                      </a:solidFill>
                    </a:lnR>
                    <a:lnT w="38100" cmpd="sng">
                      <a:solidFill>
                        <a:srgbClr val="FEFFFF"/>
                      </a:solidFill>
                    </a:lnT>
                    <a:lnB w="12700" cmpd="sng">
                      <a:solidFill>
                        <a:srgbClr val="FE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85F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Threshold defined at </a:t>
                      </a:r>
                      <a:r>
                        <a:rPr lang="en-US" sz="1600" b="1" i="0" u="none" strike="noStrike" cap="none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87 Points</a:t>
                      </a:r>
                      <a:r>
                        <a:rPr lang="en-US" sz="1600" b="0" i="0" u="none" strike="noStrike" cap="none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 to create a statistically balanced prediction target.</a:t>
                      </a:r>
                      <a:endParaRPr lang="en-US" sz="16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FEFFFF"/>
                      </a:solidFill>
                    </a:lnL>
                    <a:lnR w="12700" cmpd="sng">
                      <a:solidFill>
                        <a:srgbClr val="FEFFFF"/>
                      </a:solidFill>
                    </a:lnR>
                    <a:lnT w="38100" cmpd="sng">
                      <a:solidFill>
                        <a:srgbClr val="FEFFFF"/>
                      </a:solidFill>
                    </a:lnT>
                    <a:lnB w="12700" cmpd="sng">
                      <a:solidFill>
                        <a:srgbClr val="FE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B89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Grouping high-cardinality varieties (outside Top 20) into an 'Other' category.</a:t>
                      </a:r>
                      <a:endParaRPr lang="en-US" sz="16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FEFFFF"/>
                      </a:solidFill>
                    </a:lnL>
                    <a:lnR w="12700" cmpd="sng">
                      <a:solidFill>
                        <a:srgbClr val="FEFFFF"/>
                      </a:solidFill>
                    </a:lnR>
                    <a:lnT w="38100" cmpd="sng">
                      <a:solidFill>
                        <a:srgbClr val="FEFFFF"/>
                      </a:solidFill>
                    </a:lnT>
                    <a:lnB w="12700" cmpd="sng">
                      <a:solidFill>
                        <a:srgbClr val="FE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Implemented </a:t>
                      </a:r>
                      <a:r>
                        <a:rPr lang="en-US" sz="1600" b="0" i="0" u="none" strike="noStrike" cap="none" dirty="0" err="1">
                          <a:solidFill>
                            <a:srgbClr val="1A1A1A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price_missing</a:t>
                      </a:r>
                      <a:r>
                        <a:rPr lang="en-US" sz="1600" b="0" i="0" u="none" strike="noStrike" cap="none" dirty="0">
                          <a:solidFill>
                            <a:srgbClr val="1A1A1A"/>
                          </a:solidFill>
                          <a:latin typeface="Aptos" panose="020B0004020202020204" pitchFamily="34" charset="0"/>
                          <a:ea typeface="Inter"/>
                          <a:cs typeface="Inter"/>
                          <a:sym typeface="Inter"/>
                        </a:rPr>
                        <a:t> binary flags to preserve signals for outlier analysis.</a:t>
                      </a:r>
                      <a:endParaRPr lang="en-US" sz="16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FEFFFF"/>
                      </a:solidFill>
                    </a:lnL>
                    <a:lnR w="12700" cmpd="sng">
                      <a:solidFill>
                        <a:srgbClr val="FEFFFF"/>
                      </a:solidFill>
                    </a:lnR>
                    <a:lnT w="38100" cmpd="sng">
                      <a:solidFill>
                        <a:srgbClr val="FEFFFF"/>
                      </a:solidFill>
                    </a:lnT>
                    <a:lnB w="12700" cmpd="sng">
                      <a:solidFill>
                        <a:srgbClr val="FE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453734"/>
                  </a:ext>
                </a:extLst>
              </a:tr>
            </a:tbl>
          </a:graphicData>
        </a:graphic>
      </p:graphicFrame>
      <p:pic>
        <p:nvPicPr>
          <p:cNvPr id="7" name="Picture 6" descr="A white background with red text&#10;&#10;AI-generated content may be incorrect.">
            <a:extLst>
              <a:ext uri="{FF2B5EF4-FFF2-40B4-BE49-F238E27FC236}">
                <a16:creationId xmlns:a16="http://schemas.microsoft.com/office/drawing/2014/main" id="{12D2E0FA-9B14-E15E-4965-06080A1100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29" r="11595" b="-1"/>
          <a:stretch>
            <a:fillRect/>
          </a:stretch>
        </p:blipFill>
        <p:spPr>
          <a:xfrm>
            <a:off x="4963653" y="3803756"/>
            <a:ext cx="6088574" cy="21293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327CCE-E69B-8FAE-4A3B-CF5AA3017F0E}"/>
              </a:ext>
            </a:extLst>
          </p:cNvPr>
          <p:cNvSpPr txBox="1"/>
          <p:nvPr/>
        </p:nvSpPr>
        <p:spPr>
          <a:xfrm>
            <a:off x="1484866" y="3755706"/>
            <a:ext cx="3536616" cy="2129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Data is stored in the </a:t>
            </a:r>
            <a:r>
              <a:rPr lang="en-US" sz="1500" b="1" i="0" u="none" strike="noStrike" cap="none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Databricks Unity Catalog Volume</a:t>
            </a:r>
            <a:r>
              <a:rPr lang="en-US" sz="1500" b="0" i="0" u="none" strike="noStrike" cap="none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for high-performance retrieval</a:t>
            </a:r>
            <a:endParaRPr lang="en-US" sz="1500" dirty="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Columnar compression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Predicate pushdown logic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Reduced query latency for EDA</a:t>
            </a:r>
            <a:endParaRPr lang="en-US" sz="1500" b="0" i="0" u="none" strike="noStrike" cap="none" dirty="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762000" y="644009"/>
            <a:ext cx="109513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Montserrat ExtraBold"/>
                <a:cs typeface="Montserrat ExtraBold"/>
                <a:sym typeface="Montserrat ExtraBold"/>
              </a:rPr>
              <a:t>DATASET PROFILE</a:t>
            </a:r>
            <a:endParaRPr lang="en-US" sz="2400" b="1" dirty="0">
              <a:latin typeface="Aptos" panose="020B0004020202020204" pitchFamily="34" charset="0"/>
            </a:endParaRPr>
          </a:p>
        </p:txBody>
      </p:sp>
      <p:sp>
        <p:nvSpPr>
          <p:cNvPr id="319" name="Google Shape;319;p24"/>
          <p:cNvSpPr txBox="1"/>
          <p:nvPr/>
        </p:nvSpPr>
        <p:spPr>
          <a:xfrm>
            <a:off x="762000" y="1477219"/>
            <a:ext cx="50482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Post-deduplication, the system retains a vast majority of the </a:t>
            </a:r>
            <a:r>
              <a:rPr lang="en-US" sz="1800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129,971</a:t>
            </a:r>
            <a:r>
              <a:rPr lang="en-US" sz="1800" b="0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 records.</a:t>
            </a:r>
            <a:endParaRPr sz="1800" dirty="0">
              <a:latin typeface="Aptos" panose="020B0004020202020204" pitchFamily="34" charset="0"/>
            </a:endParaRPr>
          </a:p>
        </p:txBody>
      </p:sp>
      <p:sp>
        <p:nvSpPr>
          <p:cNvPr id="323" name="Google Shape;323;p24"/>
          <p:cNvSpPr txBox="1"/>
          <p:nvPr/>
        </p:nvSpPr>
        <p:spPr>
          <a:xfrm>
            <a:off x="601416" y="2416711"/>
            <a:ext cx="5208834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b="1" i="0" u="none" strike="noStrike" cap="none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Price range</a:t>
            </a:r>
            <a:r>
              <a:rPr lang="en-US" sz="1800" b="0" i="0" u="none" strike="noStrike" cap="none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 $4 to $3,300+ and </a:t>
            </a:r>
            <a:r>
              <a:rPr lang="en-US" sz="1800" b="1" dirty="0">
                <a:latin typeface="+mn-lt"/>
                <a:ea typeface="Times New Roman" panose="02020603050405020304" pitchFamily="18" charset="0"/>
              </a:rPr>
              <a:t>Points range </a:t>
            </a:r>
            <a:r>
              <a:rPr lang="en-US" sz="1800" dirty="0">
                <a:latin typeface="+mn-lt"/>
                <a:ea typeface="Times New Roman" panose="02020603050405020304" pitchFamily="18" charset="0"/>
              </a:rPr>
              <a:t>80-100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Key words:</a:t>
            </a:r>
            <a:r>
              <a:rPr lang="en-US" sz="1800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 Fruit, Acidity, Tannins, Oak.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Imputation:</a:t>
            </a:r>
            <a:r>
              <a:rPr lang="en-US" sz="1800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 Median values applied to 8,996 records.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B3F413-8B0F-C370-9DF5-C8F8924213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63"/>
          <a:stretch>
            <a:fillRect/>
          </a:stretch>
        </p:blipFill>
        <p:spPr>
          <a:xfrm>
            <a:off x="5734427" y="1330346"/>
            <a:ext cx="6036816" cy="32380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5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 txBox="1"/>
          <p:nvPr/>
        </p:nvSpPr>
        <p:spPr>
          <a:xfrm>
            <a:off x="710757" y="571500"/>
            <a:ext cx="109513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Montserrat ExtraBold"/>
                <a:cs typeface="Montserrat ExtraBold"/>
                <a:sym typeface="Montserrat ExtraBold"/>
              </a:rPr>
              <a:t>WINE RATING DISTRIBUTION</a:t>
            </a:r>
            <a:endParaRPr sz="2400" b="1" dirty="0">
              <a:latin typeface="Aptos" panose="020B0004020202020204" pitchFamily="34" charset="0"/>
            </a:endParaRPr>
          </a:p>
        </p:txBody>
      </p:sp>
      <p:sp>
        <p:nvSpPr>
          <p:cNvPr id="338" name="Google Shape;338;p25"/>
          <p:cNvSpPr txBox="1"/>
          <p:nvPr/>
        </p:nvSpPr>
        <p:spPr>
          <a:xfrm>
            <a:off x="762000" y="1515327"/>
            <a:ext cx="371046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373A36"/>
                </a:solidFill>
                <a:latin typeface="+mn-lt"/>
                <a:ea typeface="Montserrat"/>
                <a:cs typeface="Montserrat"/>
                <a:sym typeface="Montserrat"/>
              </a:rPr>
              <a:t>Centrally Clustered Scoring</a:t>
            </a:r>
            <a:endParaRPr dirty="0">
              <a:latin typeface="+mn-lt"/>
            </a:endParaRPr>
          </a:p>
        </p:txBody>
      </p:sp>
      <p:sp>
        <p:nvSpPr>
          <p:cNvPr id="340" name="Google Shape;340;p25"/>
          <p:cNvSpPr txBox="1"/>
          <p:nvPr/>
        </p:nvSpPr>
        <p:spPr>
          <a:xfrm>
            <a:off x="762000" y="1875256"/>
            <a:ext cx="5048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Rating </a:t>
            </a:r>
            <a:r>
              <a:rPr lang="en-US" sz="1600" b="0" i="0" u="none" strike="noStrike" cap="none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scores follow a near-normal distribution typical of critical </a:t>
            </a:r>
            <a:r>
              <a:rPr lang="en-US" sz="1600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reviews</a:t>
            </a:r>
            <a:endParaRPr lang="en-US" sz="1600" dirty="0">
              <a:latin typeface="+mn-lt"/>
            </a:endParaRPr>
          </a:p>
        </p:txBody>
      </p:sp>
      <p:sp>
        <p:nvSpPr>
          <p:cNvPr id="347" name="Google Shape;347;p25"/>
          <p:cNvSpPr txBox="1"/>
          <p:nvPr/>
        </p:nvSpPr>
        <p:spPr>
          <a:xfrm>
            <a:off x="710757" y="2673213"/>
            <a:ext cx="48577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Density:</a:t>
            </a:r>
            <a:r>
              <a:rPr lang="en-US" sz="1600" b="0" i="0" u="none" strike="noStrike" cap="none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 Most reviews fall between 85 and 91 points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A1A"/>
                </a:solidFill>
                <a:ea typeface="Inter"/>
                <a:cs typeface="Inter"/>
                <a:sym typeface="Inter"/>
              </a:rPr>
              <a:t>Elite Status:</a:t>
            </a:r>
            <a:r>
              <a:rPr lang="en-US" sz="1600" dirty="0">
                <a:solidFill>
                  <a:srgbClr val="1A1A1A"/>
                </a:solidFill>
                <a:ea typeface="Inter"/>
                <a:cs typeface="Inter"/>
                <a:sym typeface="Inter"/>
              </a:rPr>
              <a:t> 95+ points are strictly limited to the top &lt;5% of data.</a:t>
            </a:r>
            <a:endParaRPr lang="en-US" sz="1600" dirty="0"/>
          </a:p>
        </p:txBody>
      </p:sp>
      <p:sp>
        <p:nvSpPr>
          <p:cNvPr id="350" name="Google Shape;350;p25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diagram of a distribution of wine&#10;&#10;AI-generated content may be incorrect.">
            <a:extLst>
              <a:ext uri="{FF2B5EF4-FFF2-40B4-BE49-F238E27FC236}">
                <a16:creationId xmlns:a16="http://schemas.microsoft.com/office/drawing/2014/main" id="{6E79DC98-C223-9FB3-EA41-552BAE9046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253" y="1369457"/>
            <a:ext cx="5611872" cy="35883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6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6"/>
          <p:cNvSpPr txBox="1"/>
          <p:nvPr/>
        </p:nvSpPr>
        <p:spPr>
          <a:xfrm>
            <a:off x="768625" y="571500"/>
            <a:ext cx="109513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Montserrat ExtraBold"/>
                <a:cs typeface="Montserrat ExtraBold"/>
                <a:sym typeface="Montserrat ExtraBold"/>
              </a:rPr>
              <a:t>GEOGRAPHIC VOLUME ANALYSIS</a:t>
            </a:r>
            <a:endParaRPr sz="2400" b="1" dirty="0">
              <a:latin typeface="Aptos" panose="020B0004020202020204" pitchFamily="34" charset="0"/>
            </a:endParaRPr>
          </a:p>
        </p:txBody>
      </p:sp>
      <p:sp>
        <p:nvSpPr>
          <p:cNvPr id="363" name="Google Shape;363;p26"/>
          <p:cNvSpPr txBox="1"/>
          <p:nvPr/>
        </p:nvSpPr>
        <p:spPr>
          <a:xfrm>
            <a:off x="4674782" y="1783301"/>
            <a:ext cx="360997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373A36"/>
                </a:solidFill>
                <a:latin typeface="+mn-lt"/>
                <a:ea typeface="Montserrat"/>
                <a:cs typeface="Montserrat"/>
                <a:sym typeface="Montserrat"/>
              </a:rPr>
              <a:t>Major Producers by Volume</a:t>
            </a:r>
            <a:endParaRPr dirty="0">
              <a:latin typeface="+mn-lt"/>
            </a:endParaRPr>
          </a:p>
        </p:txBody>
      </p:sp>
      <p:sp>
        <p:nvSpPr>
          <p:cNvPr id="364" name="Google Shape;364;p26"/>
          <p:cNvSpPr/>
          <p:nvPr/>
        </p:nvSpPr>
        <p:spPr>
          <a:xfrm>
            <a:off x="762000" y="1575000"/>
            <a:ext cx="10668000" cy="19050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6"/>
          <p:cNvSpPr txBox="1"/>
          <p:nvPr/>
        </p:nvSpPr>
        <p:spPr>
          <a:xfrm>
            <a:off x="768625" y="1042943"/>
            <a:ext cx="10668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Distributed Spark GROUP BY queries identified the dominant players in global criticism:</a:t>
            </a:r>
            <a:endParaRPr lang="en-US" sz="1600" dirty="0"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D9D8CDA-B8C8-3C44-99EB-2143A69B3A3D}"/>
              </a:ext>
            </a:extLst>
          </p:cNvPr>
          <p:cNvGrpSpPr/>
          <p:nvPr/>
        </p:nvGrpSpPr>
        <p:grpSpPr>
          <a:xfrm>
            <a:off x="4663207" y="2229508"/>
            <a:ext cx="3214687" cy="1250366"/>
            <a:chOff x="5403990" y="2296457"/>
            <a:chExt cx="3429000" cy="1219200"/>
          </a:xfrm>
        </p:grpSpPr>
        <p:pic>
          <p:nvPicPr>
            <p:cNvPr id="357" name="Google Shape;357;p26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403990" y="2296457"/>
              <a:ext cx="3429000" cy="1219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</p:pic>
        <p:sp>
          <p:nvSpPr>
            <p:cNvPr id="367" name="Google Shape;367;p26"/>
            <p:cNvSpPr txBox="1"/>
            <p:nvPr/>
          </p:nvSpPr>
          <p:spPr>
            <a:xfrm>
              <a:off x="5618302" y="2639357"/>
              <a:ext cx="3000375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000000"/>
                  </a:solidFill>
                  <a:latin typeface="+mn-lt"/>
                  <a:ea typeface="Inter"/>
                  <a:cs typeface="Inter"/>
                  <a:sym typeface="Inter"/>
                </a:rPr>
                <a:t>United States</a:t>
              </a:r>
              <a:endParaRPr sz="1600" dirty="0">
                <a:latin typeface="+mn-lt"/>
              </a:endParaRPr>
            </a:p>
          </p:txBody>
        </p:sp>
        <p:sp>
          <p:nvSpPr>
            <p:cNvPr id="368" name="Google Shape;368;p26"/>
            <p:cNvSpPr txBox="1"/>
            <p:nvPr/>
          </p:nvSpPr>
          <p:spPr>
            <a:xfrm>
              <a:off x="5689740" y="2829857"/>
              <a:ext cx="28575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 dirty="0">
                  <a:solidFill>
                    <a:srgbClr val="1A1A1A"/>
                  </a:solidFill>
                  <a:latin typeface="+mn-lt"/>
                  <a:ea typeface="Inter"/>
                  <a:cs typeface="Inter"/>
                  <a:sym typeface="Inter"/>
                </a:rPr>
                <a:t>~54,500 Reviews</a:t>
              </a:r>
              <a:endParaRPr sz="1600" dirty="0">
                <a:latin typeface="+mn-lt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AB41599-D9E9-578B-7127-E9D3D75821F8}"/>
              </a:ext>
            </a:extLst>
          </p:cNvPr>
          <p:cNvGrpSpPr/>
          <p:nvPr/>
        </p:nvGrpSpPr>
        <p:grpSpPr>
          <a:xfrm>
            <a:off x="4663207" y="3640868"/>
            <a:ext cx="3214687" cy="1219200"/>
            <a:chOff x="5492669" y="4067417"/>
            <a:chExt cx="3429000" cy="1219200"/>
          </a:xfrm>
        </p:grpSpPr>
        <p:pic>
          <p:nvPicPr>
            <p:cNvPr id="358" name="Google Shape;358;p26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492669" y="4067417"/>
              <a:ext cx="3429000" cy="12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26"/>
            <p:cNvSpPr txBox="1"/>
            <p:nvPr/>
          </p:nvSpPr>
          <p:spPr>
            <a:xfrm>
              <a:off x="5706981" y="4410317"/>
              <a:ext cx="3000375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000000"/>
                  </a:solidFill>
                  <a:latin typeface="+mn-lt"/>
                  <a:ea typeface="Inter"/>
                  <a:cs typeface="Inter"/>
                  <a:sym typeface="Inter"/>
                </a:rPr>
                <a:t>France</a:t>
              </a:r>
              <a:endParaRPr sz="1600" dirty="0">
                <a:latin typeface="+mn-lt"/>
              </a:endParaRPr>
            </a:p>
          </p:txBody>
        </p:sp>
        <p:sp>
          <p:nvSpPr>
            <p:cNvPr id="370" name="Google Shape;370;p26"/>
            <p:cNvSpPr txBox="1"/>
            <p:nvPr/>
          </p:nvSpPr>
          <p:spPr>
            <a:xfrm>
              <a:off x="5778419" y="4600817"/>
              <a:ext cx="28575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 dirty="0">
                  <a:solidFill>
                    <a:srgbClr val="1A1A1A"/>
                  </a:solidFill>
                  <a:latin typeface="+mn-lt"/>
                  <a:ea typeface="Inter"/>
                  <a:cs typeface="Inter"/>
                  <a:sym typeface="Inter"/>
                </a:rPr>
                <a:t>~22,000 Reviews</a:t>
              </a:r>
              <a:endParaRPr sz="1600" dirty="0">
                <a:latin typeface="+mn-lt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2D22AE8-7D08-34FD-2510-E07EB823796D}"/>
              </a:ext>
            </a:extLst>
          </p:cNvPr>
          <p:cNvGrpSpPr/>
          <p:nvPr/>
        </p:nvGrpSpPr>
        <p:grpSpPr>
          <a:xfrm>
            <a:off x="4663207" y="5050568"/>
            <a:ext cx="3214687" cy="1171799"/>
            <a:chOff x="5403990" y="5247343"/>
            <a:chExt cx="3214687" cy="1171799"/>
          </a:xfrm>
        </p:grpSpPr>
        <p:pic>
          <p:nvPicPr>
            <p:cNvPr id="359" name="Google Shape;359;p26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403990" y="5247343"/>
              <a:ext cx="3214687" cy="11717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26"/>
            <p:cNvSpPr txBox="1"/>
            <p:nvPr/>
          </p:nvSpPr>
          <p:spPr>
            <a:xfrm>
              <a:off x="5618302" y="5590243"/>
              <a:ext cx="2812851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000000"/>
                  </a:solidFill>
                  <a:latin typeface="+mn-lt"/>
                  <a:ea typeface="Inter"/>
                  <a:cs typeface="Inter"/>
                  <a:sym typeface="Inter"/>
                </a:rPr>
                <a:t>Italy</a:t>
              </a:r>
              <a:endParaRPr sz="1600" dirty="0">
                <a:latin typeface="+mn-lt"/>
              </a:endParaRPr>
            </a:p>
          </p:txBody>
        </p:sp>
        <p:sp>
          <p:nvSpPr>
            <p:cNvPr id="372" name="Google Shape;372;p26"/>
            <p:cNvSpPr txBox="1"/>
            <p:nvPr/>
          </p:nvSpPr>
          <p:spPr>
            <a:xfrm>
              <a:off x="5689740" y="5780743"/>
              <a:ext cx="2678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 dirty="0">
                  <a:solidFill>
                    <a:srgbClr val="1A1A1A"/>
                  </a:solidFill>
                  <a:latin typeface="+mn-lt"/>
                  <a:ea typeface="Inter"/>
                  <a:cs typeface="Inter"/>
                  <a:sym typeface="Inter"/>
                </a:rPr>
                <a:t>~19,500 Reviews</a:t>
              </a:r>
              <a:endParaRPr sz="1600" dirty="0">
                <a:latin typeface="+mn-lt"/>
              </a:endParaRPr>
            </a:p>
          </p:txBody>
        </p:sp>
      </p:grpSp>
      <p:sp>
        <p:nvSpPr>
          <p:cNvPr id="373" name="Google Shape;373;p26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screenshot of a table&#10;&#10;AI-generated content may be incorrect.">
            <a:extLst>
              <a:ext uri="{FF2B5EF4-FFF2-40B4-BE49-F238E27FC236}">
                <a16:creationId xmlns:a16="http://schemas.microsoft.com/office/drawing/2014/main" id="{03809E68-0D92-1386-E1FD-FCDEAF5DA26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866172" y="1873850"/>
            <a:ext cx="3399101" cy="443601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D6F2218B-99BE-9296-A9BF-4C1F6F930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7745" y="1884931"/>
            <a:ext cx="2710873" cy="3114620"/>
          </a:xfrm>
          <a:prstGeom prst="rect">
            <a:avLst/>
          </a:prstGeom>
        </p:spPr>
      </p:pic>
      <p:sp>
        <p:nvSpPr>
          <p:cNvPr id="9" name="Google Shape;365;p26">
            <a:extLst>
              <a:ext uri="{FF2B5EF4-FFF2-40B4-BE49-F238E27FC236}">
                <a16:creationId xmlns:a16="http://schemas.microsoft.com/office/drawing/2014/main" id="{86AF6FBE-D10F-2AF4-C0A9-465D1F4B504A}"/>
              </a:ext>
            </a:extLst>
          </p:cNvPr>
          <p:cNvSpPr txBox="1"/>
          <p:nvPr/>
        </p:nvSpPr>
        <p:spPr>
          <a:xfrm>
            <a:off x="8794047" y="5114371"/>
            <a:ext cx="292091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+mn-lt"/>
              </a:rPr>
              <a:t>Average rating by Country shows that highest rated wines are from England with ~91 rating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7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7"/>
          <p:cNvSpPr txBox="1"/>
          <p:nvPr/>
        </p:nvSpPr>
        <p:spPr>
          <a:xfrm>
            <a:off x="571857" y="594650"/>
            <a:ext cx="109513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Montserrat ExtraBold"/>
                <a:cs typeface="Montserrat ExtraBold"/>
                <a:sym typeface="Montserrat ExtraBold"/>
              </a:rPr>
              <a:t>PREMIUM VARIETY PERFORMANCE</a:t>
            </a:r>
            <a:endParaRPr lang="en-US" sz="2400" b="1" dirty="0">
              <a:latin typeface="Aptos" panose="020B0004020202020204" pitchFamily="34" charset="0"/>
            </a:endParaRPr>
          </a:p>
        </p:txBody>
      </p:sp>
      <p:sp>
        <p:nvSpPr>
          <p:cNvPr id="383" name="Google Shape;383;p27"/>
          <p:cNvSpPr txBox="1"/>
          <p:nvPr/>
        </p:nvSpPr>
        <p:spPr>
          <a:xfrm>
            <a:off x="530503" y="1257300"/>
            <a:ext cx="112014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373A36"/>
                </a:solidFill>
                <a:latin typeface="+mn-lt"/>
                <a:ea typeface="Montserrat"/>
                <a:cs typeface="Montserrat"/>
                <a:sym typeface="Montserrat"/>
              </a:rPr>
              <a:t>Top 5 Praise-Earning Combinations (Price &gt;$100)</a:t>
            </a:r>
            <a:endParaRPr lang="en-US" dirty="0">
              <a:latin typeface="+mn-lt"/>
            </a:endParaRPr>
          </a:p>
        </p:txBody>
      </p:sp>
      <p:sp>
        <p:nvSpPr>
          <p:cNvPr id="384" name="Google Shape;384;p27"/>
          <p:cNvSpPr/>
          <p:nvPr/>
        </p:nvSpPr>
        <p:spPr>
          <a:xfrm>
            <a:off x="1284787" y="1629356"/>
            <a:ext cx="9832694" cy="27432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5" name="Google Shape;385;p27"/>
          <p:cNvGraphicFramePr/>
          <p:nvPr>
            <p:extLst>
              <p:ext uri="{D42A27DB-BD31-4B8C-83A1-F6EECF244321}">
                <p14:modId xmlns:p14="http://schemas.microsoft.com/office/powerpoint/2010/main" val="2386640686"/>
              </p:ext>
            </p:extLst>
          </p:nvPr>
        </p:nvGraphicFramePr>
        <p:xfrm>
          <a:off x="2316864" y="1914549"/>
          <a:ext cx="7697165" cy="3000325"/>
        </p:xfrm>
        <a:graphic>
          <a:graphicData uri="http://schemas.openxmlformats.org/drawingml/2006/table">
            <a:tbl>
              <a:tblPr firstRow="1" bandRow="1">
                <a:noFill/>
                <a:tableStyleId>{555891C5-EBDD-475E-AD31-4251C65AAAA6}</a:tableStyleId>
              </a:tblPr>
              <a:tblGrid>
                <a:gridCol w="1200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0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6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Rank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73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Variety Profile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73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Average Score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73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Bordeaux-Style White Blend</a:t>
                      </a:r>
                      <a:endParaRPr lang="en-US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94.67 Pts</a:t>
                      </a:r>
                      <a:endParaRPr lang="en-US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Portuguese Red</a:t>
                      </a:r>
                      <a:endParaRPr lang="en-US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94.28 Pts</a:t>
                      </a:r>
                      <a:endParaRPr lang="en-US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Port</a:t>
                      </a:r>
                      <a:endParaRPr lang="en-US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94.24 Pts</a:t>
                      </a:r>
                      <a:endParaRPr lang="en-US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Sparkling Blend</a:t>
                      </a:r>
                      <a:endParaRPr lang="en-US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94.17 Pts</a:t>
                      </a:r>
                      <a:endParaRPr lang="en-US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Riesling</a:t>
                      </a:r>
                      <a:endParaRPr lang="en-US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94.04 Pts</a:t>
                      </a:r>
                      <a:endParaRPr lang="en-US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6" name="Google Shape;386;p27"/>
          <p:cNvSpPr txBox="1"/>
          <p:nvPr/>
        </p:nvSpPr>
        <p:spPr>
          <a:xfrm>
            <a:off x="2687678" y="5084675"/>
            <a:ext cx="711327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Luxury tier pricing consistently correlates with elite scores across all major varieties.</a:t>
            </a:r>
            <a:endParaRPr dirty="0">
              <a:latin typeface="+mn-lt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2425749" y="2919412"/>
            <a:ext cx="54610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7"/>
          <p:cNvSpPr/>
          <p:nvPr/>
        </p:nvSpPr>
        <p:spPr>
          <a:xfrm>
            <a:off x="2425749" y="3414712"/>
            <a:ext cx="54610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7"/>
          <p:cNvSpPr/>
          <p:nvPr/>
        </p:nvSpPr>
        <p:spPr>
          <a:xfrm>
            <a:off x="2425749" y="3910012"/>
            <a:ext cx="54610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/>
          <p:nvPr/>
        </p:nvSpPr>
        <p:spPr>
          <a:xfrm>
            <a:off x="2425749" y="4405312"/>
            <a:ext cx="54610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7"/>
          <p:cNvSpPr/>
          <p:nvPr/>
        </p:nvSpPr>
        <p:spPr>
          <a:xfrm>
            <a:off x="2425749" y="4900612"/>
            <a:ext cx="54610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257300"/>
            <a:ext cx="504825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8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8"/>
          <p:cNvSpPr txBox="1"/>
          <p:nvPr/>
        </p:nvSpPr>
        <p:spPr>
          <a:xfrm>
            <a:off x="762000" y="679996"/>
            <a:ext cx="4857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Montserrat ExtraBold"/>
                <a:cs typeface="Montserrat ExtraBold"/>
                <a:sym typeface="Montserrat ExtraBold"/>
              </a:rPr>
              <a:t>PRICE VS RATING CORRELATION</a:t>
            </a:r>
            <a:endParaRPr lang="en-US" sz="2400" b="1" dirty="0">
              <a:latin typeface="Aptos" panose="020B0004020202020204" pitchFamily="34" charset="0"/>
            </a:endParaRPr>
          </a:p>
        </p:txBody>
      </p:sp>
      <p:sp>
        <p:nvSpPr>
          <p:cNvPr id="415" name="Google Shape;415;p28"/>
          <p:cNvSpPr txBox="1"/>
          <p:nvPr/>
        </p:nvSpPr>
        <p:spPr>
          <a:xfrm>
            <a:off x="762000" y="1402317"/>
            <a:ext cx="5048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Scatter plot analysis revealed a significant positive correlation up to $100</a:t>
            </a:r>
            <a:endParaRPr sz="1600" dirty="0">
              <a:latin typeface="Aptos" panose="020B0004020202020204" pitchFamily="34" charset="0"/>
            </a:endParaRPr>
          </a:p>
        </p:txBody>
      </p:sp>
      <p:sp>
        <p:nvSpPr>
          <p:cNvPr id="416" name="Google Shape;416;p28"/>
          <p:cNvSpPr txBox="1"/>
          <p:nvPr/>
        </p:nvSpPr>
        <p:spPr>
          <a:xfrm>
            <a:off x="6629400" y="1447075"/>
            <a:ext cx="45529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Business Case:</a:t>
            </a:r>
            <a:r>
              <a:rPr lang="en-US" sz="1600" b="0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 Investors and retailers should target the $40-$80 "Sweet Spot" for maximum rating stability.</a:t>
            </a:r>
            <a:endParaRPr sz="1600" dirty="0">
              <a:latin typeface="Aptos" panose="020B0004020202020204" pitchFamily="34" charset="0"/>
            </a:endParaRPr>
          </a:p>
        </p:txBody>
      </p:sp>
      <p:sp>
        <p:nvSpPr>
          <p:cNvPr id="418" name="Google Shape;418;p28"/>
          <p:cNvSpPr txBox="1"/>
          <p:nvPr/>
        </p:nvSpPr>
        <p:spPr>
          <a:xfrm>
            <a:off x="672752" y="2226348"/>
            <a:ext cx="48577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US" sz="1600" b="1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Luxury Median:</a:t>
            </a:r>
            <a:r>
              <a:rPr lang="en-US" sz="1600" b="0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 91.2 Points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Budget Median:</a:t>
            </a:r>
            <a:r>
              <a:rPr lang="en-US" sz="1600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 86.8 Points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600" b="1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Post $100:</a:t>
            </a:r>
            <a:r>
              <a:rPr lang="en-US" sz="1600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 Variance increases sharply; price no longer guarantees higher points.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23" name="Google Shape;423;p28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chart with numbers and lines&#10;&#10;AI-generated content may be incorrect.">
            <a:extLst>
              <a:ext uri="{FF2B5EF4-FFF2-40B4-BE49-F238E27FC236}">
                <a16:creationId xmlns:a16="http://schemas.microsoft.com/office/drawing/2014/main" id="{5ABB587A-18E7-C608-9A11-926BC84BEC0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124" y="2913925"/>
            <a:ext cx="5827702" cy="36606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1561" y="2083444"/>
            <a:ext cx="1068487" cy="554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0101" y="2076669"/>
            <a:ext cx="1068487" cy="554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8641" y="2076669"/>
            <a:ext cx="1075363" cy="554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74057" y="2064212"/>
            <a:ext cx="1068487" cy="554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47129" y="2064212"/>
            <a:ext cx="533882" cy="554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85596" y="2057321"/>
            <a:ext cx="1497836" cy="554983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0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0"/>
          <p:cNvSpPr txBox="1"/>
          <p:nvPr/>
        </p:nvSpPr>
        <p:spPr>
          <a:xfrm>
            <a:off x="3604608" y="812150"/>
            <a:ext cx="47987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Montserrat ExtraBold"/>
                <a:cs typeface="Montserrat ExtraBold"/>
                <a:sym typeface="Montserrat ExtraBold"/>
              </a:rPr>
              <a:t>6-STAGE ML PIPELINE</a:t>
            </a:r>
            <a:endParaRPr sz="2400" b="1" dirty="0">
              <a:latin typeface="Aptos" panose="020B0004020202020204" pitchFamily="34" charset="0"/>
            </a:endParaRPr>
          </a:p>
        </p:txBody>
      </p:sp>
      <p:sp>
        <p:nvSpPr>
          <p:cNvPr id="460" name="Google Shape;460;p30"/>
          <p:cNvSpPr txBox="1"/>
          <p:nvPr/>
        </p:nvSpPr>
        <p:spPr>
          <a:xfrm>
            <a:off x="930678" y="4594853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Feature Resolution:</a:t>
            </a:r>
            <a:r>
              <a:rPr lang="en-US" sz="1500" b="0" i="0" u="none" strike="noStrike" cap="none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10,000 dimensions used to capture complex flavor compound descriptors.</a:t>
            </a:r>
            <a:endParaRPr dirty="0"/>
          </a:p>
        </p:txBody>
      </p:sp>
      <p:pic>
        <p:nvPicPr>
          <p:cNvPr id="461" name="Google Shape;461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872450" y="2220089"/>
            <a:ext cx="330121" cy="307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48295" y="2220089"/>
            <a:ext cx="330121" cy="307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9618" y="2220089"/>
            <a:ext cx="330121" cy="307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51064" y="2220089"/>
            <a:ext cx="330121" cy="307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769633" y="2220089"/>
            <a:ext cx="330121" cy="307332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30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98D014-E5F8-DFBD-7A7C-D155A8E292BA}"/>
              </a:ext>
            </a:extLst>
          </p:cNvPr>
          <p:cNvSpPr txBox="1"/>
          <p:nvPr/>
        </p:nvSpPr>
        <p:spPr>
          <a:xfrm>
            <a:off x="1722216" y="3149364"/>
            <a:ext cx="8961216" cy="934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6000"/>
              </a:lnSpc>
              <a:buFont typeface="Wingdings" pitchFamily="2" charset="2"/>
              <a:buChar char="v"/>
            </a:pPr>
            <a:r>
              <a:rPr lang="en-US" sz="16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All text transformations are applied identically to training and test data, preventing data leakage.</a:t>
            </a:r>
          </a:p>
          <a:p>
            <a:pPr marL="342900" marR="0" lvl="0" indent="-342900">
              <a:lnSpc>
                <a:spcPct val="116000"/>
              </a:lnSpc>
              <a:buFont typeface="Wingdings" pitchFamily="2" charset="2"/>
              <a:buChar char="v"/>
            </a:pPr>
            <a:r>
              <a:rPr lang="en-US" sz="1600" dirty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6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itted pipeline can be applied to any new wine description text </a:t>
            </a:r>
          </a:p>
          <a:p>
            <a:pPr marL="342900" marR="0" lvl="0" indent="-342900">
              <a:lnSpc>
                <a:spcPct val="116000"/>
              </a:lnSpc>
              <a:buFont typeface="Wingdings" pitchFamily="2" charset="2"/>
              <a:buChar char="v"/>
            </a:pPr>
            <a:r>
              <a:rPr lang="en-US" sz="1600" dirty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erialized pipeline model stored in </a:t>
            </a:r>
            <a:r>
              <a:rPr lang="en-US" sz="160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MLflow</a:t>
            </a:r>
            <a:r>
              <a:rPr lang="en-US" sz="16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can be loaded and reused without re-training.</a:t>
            </a:r>
          </a:p>
        </p:txBody>
      </p:sp>
      <p:pic>
        <p:nvPicPr>
          <p:cNvPr id="5" name="Google Shape;603;p38" descr="image.png">
            <a:extLst>
              <a:ext uri="{FF2B5EF4-FFF2-40B4-BE49-F238E27FC236}">
                <a16:creationId xmlns:a16="http://schemas.microsoft.com/office/drawing/2014/main" id="{C815DC4C-50C0-414B-1CF5-526B1CE6393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3575" y="1516284"/>
            <a:ext cx="10668000" cy="3865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1"/>
          <p:cNvSpPr txBox="1"/>
          <p:nvPr/>
        </p:nvSpPr>
        <p:spPr>
          <a:xfrm>
            <a:off x="594348" y="1517118"/>
            <a:ext cx="433580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dirty="0">
                <a:solidFill>
                  <a:srgbClr val="373A36"/>
                </a:solidFill>
                <a:latin typeface="+mn-lt"/>
                <a:sym typeface="Montserrat ExtraBold"/>
              </a:rPr>
              <a:t>WHY LOGISTIC REGRESSION?</a:t>
            </a:r>
            <a:endParaRPr lang="en-US" sz="1950" b="1" dirty="0">
              <a:solidFill>
                <a:srgbClr val="373A36"/>
              </a:solidFill>
              <a:latin typeface="+mn-lt"/>
            </a:endParaRPr>
          </a:p>
        </p:txBody>
      </p:sp>
      <p:sp>
        <p:nvSpPr>
          <p:cNvPr id="478" name="Google Shape;478;p31"/>
          <p:cNvSpPr txBox="1"/>
          <p:nvPr/>
        </p:nvSpPr>
        <p:spPr>
          <a:xfrm>
            <a:off x="594348" y="1976951"/>
            <a:ext cx="50482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Logistic Regression was chosen for three key engineering factors:</a:t>
            </a:r>
            <a:endParaRPr lang="en-US" sz="1600" dirty="0">
              <a:latin typeface="+mn-lt"/>
            </a:endParaRPr>
          </a:p>
        </p:txBody>
      </p:sp>
      <p:pic>
        <p:nvPicPr>
          <p:cNvPr id="479" name="Google Shape;479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7153" y="4888856"/>
            <a:ext cx="900414" cy="690533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1"/>
          <p:cNvSpPr txBox="1"/>
          <p:nvPr/>
        </p:nvSpPr>
        <p:spPr>
          <a:xfrm>
            <a:off x="518692" y="2876666"/>
            <a:ext cx="4857750" cy="1731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US" sz="1500" b="1" i="0" u="none" strike="noStrike" cap="none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Interpretability:</a:t>
            </a:r>
            <a:r>
              <a:rPr lang="en-US" sz="1500" b="0" i="0" u="none" strike="noStrike" cap="none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 Weights can be mapped directly back to sensory words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500" b="1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Distributed Performance:</a:t>
            </a:r>
            <a:r>
              <a:rPr lang="en-US" sz="1500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 Trains rapidly on high-dimensional sparse matrices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500" b="1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Scalability:</a:t>
            </a:r>
            <a:r>
              <a:rPr lang="en-US" sz="1500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 Low inferencing latency for live systems</a:t>
            </a:r>
            <a:endParaRPr lang="en-US" sz="1500" dirty="0">
              <a:latin typeface="+mn-lt"/>
            </a:endParaRPr>
          </a:p>
        </p:txBody>
      </p:sp>
      <p:sp>
        <p:nvSpPr>
          <p:cNvPr id="486" name="Google Shape;486;p31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499;p32">
            <a:extLst>
              <a:ext uri="{FF2B5EF4-FFF2-40B4-BE49-F238E27FC236}">
                <a16:creationId xmlns:a16="http://schemas.microsoft.com/office/drawing/2014/main" id="{5F910793-2791-B37B-8F67-C268537733B0}"/>
              </a:ext>
            </a:extLst>
          </p:cNvPr>
          <p:cNvSpPr txBox="1"/>
          <p:nvPr/>
        </p:nvSpPr>
        <p:spPr>
          <a:xfrm>
            <a:off x="6734535" y="2000034"/>
            <a:ext cx="50482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Implemented using Spark's </a:t>
            </a:r>
            <a:r>
              <a:rPr lang="en-US" sz="1500" b="1" i="0" u="none" strike="noStrike" cap="none" dirty="0" err="1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CrossValidator</a:t>
            </a:r>
            <a:r>
              <a:rPr lang="en-US" sz="1500" b="0" i="0" u="none" strike="noStrike" cap="none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 with a 3-fold split</a:t>
            </a:r>
            <a:endParaRPr lang="en-US" sz="1500" dirty="0">
              <a:latin typeface="+mn-lt"/>
            </a:endParaRPr>
          </a:p>
        </p:txBody>
      </p:sp>
      <p:sp>
        <p:nvSpPr>
          <p:cNvPr id="6" name="Google Shape;501;p32">
            <a:extLst>
              <a:ext uri="{FF2B5EF4-FFF2-40B4-BE49-F238E27FC236}">
                <a16:creationId xmlns:a16="http://schemas.microsoft.com/office/drawing/2014/main" id="{7037F22A-0281-AAD4-289A-902BD7288C18}"/>
              </a:ext>
            </a:extLst>
          </p:cNvPr>
          <p:cNvSpPr txBox="1"/>
          <p:nvPr/>
        </p:nvSpPr>
        <p:spPr>
          <a:xfrm>
            <a:off x="6734535" y="2460838"/>
            <a:ext cx="485775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US" sz="1500" b="1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Training Split:</a:t>
            </a:r>
            <a:r>
              <a:rPr lang="en-US" sz="1500" b="0" i="0" u="none" strike="noStrike" cap="none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 80%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500" b="1" dirty="0" err="1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RegParam</a:t>
            </a:r>
            <a:r>
              <a:rPr lang="en-US" sz="1500" b="1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:</a:t>
            </a:r>
            <a:r>
              <a:rPr lang="en-US" sz="1500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 [0.01, 0.1]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500" b="1" dirty="0" err="1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MaxIter</a:t>
            </a:r>
            <a:r>
              <a:rPr lang="en-US" sz="1500" b="1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:</a:t>
            </a:r>
            <a:r>
              <a:rPr lang="en-US" sz="1500" dirty="0">
                <a:solidFill>
                  <a:srgbClr val="1A1A1A"/>
                </a:solidFill>
                <a:latin typeface="Aptos" panose="020B0004020202020204" pitchFamily="34" charset="0"/>
                <a:ea typeface="Inter"/>
                <a:cs typeface="Inter"/>
                <a:sym typeface="Inter"/>
              </a:rPr>
              <a:t> [10, 20]</a:t>
            </a:r>
            <a:endParaRPr lang="en-US" sz="1500" dirty="0">
              <a:latin typeface="Aptos" panose="020B0004020202020204" pitchFamily="34" charset="0"/>
            </a:endParaRPr>
          </a:p>
        </p:txBody>
      </p:sp>
      <p:pic>
        <p:nvPicPr>
          <p:cNvPr id="11" name="Picture 1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0A384B0-2DAC-AF9C-3FF0-9791D1E055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346"/>
          <a:stretch>
            <a:fillRect/>
          </a:stretch>
        </p:blipFill>
        <p:spPr>
          <a:xfrm>
            <a:off x="6734535" y="3746397"/>
            <a:ext cx="5152665" cy="2383876"/>
          </a:xfrm>
          <a:prstGeom prst="rect">
            <a:avLst/>
          </a:prstGeom>
        </p:spPr>
      </p:pic>
      <p:sp>
        <p:nvSpPr>
          <p:cNvPr id="12" name="Google Shape;474;p31">
            <a:extLst>
              <a:ext uri="{FF2B5EF4-FFF2-40B4-BE49-F238E27FC236}">
                <a16:creationId xmlns:a16="http://schemas.microsoft.com/office/drawing/2014/main" id="{44AF1B4B-285C-3B60-07E5-A29869843420}"/>
              </a:ext>
            </a:extLst>
          </p:cNvPr>
          <p:cNvSpPr txBox="1"/>
          <p:nvPr/>
        </p:nvSpPr>
        <p:spPr>
          <a:xfrm>
            <a:off x="3928098" y="582678"/>
            <a:ext cx="45677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Aptos" panose="020B0004020202020204" pitchFamily="34" charset="0"/>
              </a:rPr>
              <a:t>MODEL SELECTION &amp; TRAINING</a:t>
            </a:r>
          </a:p>
        </p:txBody>
      </p:sp>
      <p:sp>
        <p:nvSpPr>
          <p:cNvPr id="13" name="Google Shape;474;p31">
            <a:extLst>
              <a:ext uri="{FF2B5EF4-FFF2-40B4-BE49-F238E27FC236}">
                <a16:creationId xmlns:a16="http://schemas.microsoft.com/office/drawing/2014/main" id="{FEBA8EFD-46B7-ACA9-85A3-FCCE63470B35}"/>
              </a:ext>
            </a:extLst>
          </p:cNvPr>
          <p:cNvSpPr txBox="1"/>
          <p:nvPr/>
        </p:nvSpPr>
        <p:spPr>
          <a:xfrm>
            <a:off x="6734535" y="1517118"/>
            <a:ext cx="433580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dirty="0">
                <a:solidFill>
                  <a:srgbClr val="373A36"/>
                </a:solidFill>
                <a:latin typeface="+mn-lt"/>
              </a:rPr>
              <a:t>HYPERPARAMETER TUNING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>
          <a:extLst>
            <a:ext uri="{FF2B5EF4-FFF2-40B4-BE49-F238E27FC236}">
              <a16:creationId xmlns:a16="http://schemas.microsoft.com/office/drawing/2014/main" id="{691AF63C-D30A-81EB-F2E9-C3D6D5E0C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>
            <a:extLst>
              <a:ext uri="{FF2B5EF4-FFF2-40B4-BE49-F238E27FC236}">
                <a16:creationId xmlns:a16="http://schemas.microsoft.com/office/drawing/2014/main" id="{1982041F-9C26-4924-46A5-213C7FBBF081}"/>
              </a:ext>
            </a:extLst>
          </p:cNvPr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>
            <a:extLst>
              <a:ext uri="{FF2B5EF4-FFF2-40B4-BE49-F238E27FC236}">
                <a16:creationId xmlns:a16="http://schemas.microsoft.com/office/drawing/2014/main" id="{DD271C50-4F2A-6A7A-D6AA-C9581A3DF81C}"/>
              </a:ext>
            </a:extLst>
          </p:cNvPr>
          <p:cNvSpPr txBox="1"/>
          <p:nvPr/>
        </p:nvSpPr>
        <p:spPr>
          <a:xfrm>
            <a:off x="597166" y="419829"/>
            <a:ext cx="109513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400" b="1" err="1">
                <a:latin typeface="Aptos"/>
                <a:ea typeface="Montserrat ExtraBold"/>
                <a:sym typeface="Montserrat ExtraBold"/>
              </a:rPr>
              <a:t>MLOps</a:t>
            </a:r>
            <a:r>
              <a:rPr lang="en-US" sz="2400" b="1">
                <a:latin typeface="Aptos"/>
                <a:ea typeface="Montserrat ExtraBold"/>
                <a:sym typeface="Montserrat ExtraBold"/>
              </a:rPr>
              <a:t> Pipeline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ptos"/>
                <a:ea typeface="Montserrat ExtraBold"/>
                <a:sym typeface="Montserrat ExtraBold"/>
              </a:rPr>
              <a:t>&amp; </a:t>
            </a:r>
            <a:r>
              <a:rPr lang="en-US" sz="2400" b="1">
                <a:latin typeface="Aptos"/>
                <a:ea typeface="Montserrat ExtraBold"/>
                <a:sym typeface="Montserrat ExtraBold"/>
              </a:rPr>
              <a:t>Model Management</a:t>
            </a:r>
            <a:endParaRPr lang="en-US"/>
          </a:p>
        </p:txBody>
      </p:sp>
      <p:sp>
        <p:nvSpPr>
          <p:cNvPr id="286" name="Google Shape;286;p22">
            <a:extLst>
              <a:ext uri="{FF2B5EF4-FFF2-40B4-BE49-F238E27FC236}">
                <a16:creationId xmlns:a16="http://schemas.microsoft.com/office/drawing/2014/main" id="{AEB56281-1871-2183-4B44-D60C13804A48}"/>
              </a:ext>
            </a:extLst>
          </p:cNvPr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11F712A2-96C9-6C04-FCB2-A0B733151A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2741019"/>
              </p:ext>
            </p:extLst>
          </p:nvPr>
        </p:nvGraphicFramePr>
        <p:xfrm>
          <a:off x="189130" y="2586574"/>
          <a:ext cx="11671338" cy="2990697"/>
        </p:xfrm>
        <a:graphic>
          <a:graphicData uri="http://schemas.openxmlformats.org/drawingml/2006/table">
            <a:tbl>
              <a:tblPr firstRow="1" bandRow="1"/>
              <a:tblGrid>
                <a:gridCol w="3890446">
                  <a:extLst>
                    <a:ext uri="{9D8B030D-6E8A-4147-A177-3AD203B41FA5}">
                      <a16:colId xmlns:a16="http://schemas.microsoft.com/office/drawing/2014/main" val="2197644577"/>
                    </a:ext>
                  </a:extLst>
                </a:gridCol>
                <a:gridCol w="3890446">
                  <a:extLst>
                    <a:ext uri="{9D8B030D-6E8A-4147-A177-3AD203B41FA5}">
                      <a16:colId xmlns:a16="http://schemas.microsoft.com/office/drawing/2014/main" val="1525852292"/>
                    </a:ext>
                  </a:extLst>
                </a:gridCol>
                <a:gridCol w="3890446">
                  <a:extLst>
                    <a:ext uri="{9D8B030D-6E8A-4147-A177-3AD203B41FA5}">
                      <a16:colId xmlns:a16="http://schemas.microsoft.com/office/drawing/2014/main" val="401346082"/>
                    </a:ext>
                  </a:extLst>
                </a:gridCol>
              </a:tblGrid>
              <a:tr h="44720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9pPr>
                    </a:lstStyle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>
                          <a:latin typeface="Aptos"/>
                        </a:rPr>
                        <a:t>Experiment Tracking</a:t>
                      </a:r>
                    </a:p>
                  </a:txBody>
                  <a:tcPr anchor="ctr">
                    <a:lnL w="12700" cmpd="sng">
                      <a:solidFill>
                        <a:srgbClr val="FEFFFF"/>
                      </a:solidFill>
                    </a:lnL>
                    <a:lnR w="12700" cmpd="sng">
                      <a:solidFill>
                        <a:srgbClr val="FEFFFF"/>
                      </a:solidFill>
                    </a:lnR>
                    <a:lnT w="12700" cmpd="sng">
                      <a:solidFill>
                        <a:srgbClr val="FEFFFF"/>
                      </a:solidFill>
                    </a:lnT>
                    <a:lnB w="38100" cmpd="sng">
                      <a:solidFill>
                        <a:srgbClr val="FE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85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9pPr>
                    </a:lstStyle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>
                          <a:latin typeface="Aptos"/>
                        </a:rPr>
                        <a:t>Automated Pipeline</a:t>
                      </a:r>
                    </a:p>
                  </a:txBody>
                  <a:tcPr anchor="ctr">
                    <a:lnL w="12700" cmpd="sng">
                      <a:solidFill>
                        <a:srgbClr val="FEFFFF"/>
                      </a:solidFill>
                    </a:lnL>
                    <a:lnR w="12700" cmpd="sng">
                      <a:solidFill>
                        <a:srgbClr val="FEFFFF"/>
                      </a:solidFill>
                    </a:lnR>
                    <a:lnT w="12700" cmpd="sng">
                      <a:solidFill>
                        <a:srgbClr val="FEFFFF"/>
                      </a:solidFill>
                    </a:lnT>
                    <a:lnB w="38100" cmpd="sng">
                      <a:solidFill>
                        <a:srgbClr val="FE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B89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Franklin Gothic Book" panose="020B0503020102020204"/>
                          <a:sym typeface="Arial"/>
                        </a:defRPr>
                      </a:lvl9pPr>
                    </a:lstStyle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>
                          <a:latin typeface="Aptos"/>
                        </a:rPr>
                        <a:t>Model Registry</a:t>
                      </a:r>
                    </a:p>
                  </a:txBody>
                  <a:tcPr anchor="ctr">
                    <a:lnL w="12700" cmpd="sng">
                      <a:solidFill>
                        <a:srgbClr val="FEFFFF"/>
                      </a:solidFill>
                    </a:lnL>
                    <a:lnR w="12700" cmpd="sng">
                      <a:solidFill>
                        <a:srgbClr val="FEFFFF"/>
                      </a:solidFill>
                    </a:lnR>
                    <a:lnT w="12700" cmpd="sng">
                      <a:solidFill>
                        <a:srgbClr val="FEFFFF"/>
                      </a:solidFill>
                    </a:lnT>
                    <a:lnB w="38100" cmpd="sng">
                      <a:solidFill>
                        <a:srgbClr val="FE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85F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566725"/>
                  </a:ext>
                </a:extLst>
              </a:tr>
              <a:tr h="2543491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9pPr>
                    </a:lstStyle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0" i="0">
                          <a:latin typeface="Aptos"/>
                        </a:rPr>
                        <a:t>All training runs logged to MLflow experiment: </a:t>
                      </a:r>
                      <a:r>
                        <a:rPr lang="en-US" sz="1600" b="0" i="0">
                          <a:latin typeface="Aptos"/>
                          <a:ea typeface="Inter"/>
                        </a:rPr>
                        <a:t>wine_recommendation_project</a:t>
                      </a:r>
                      <a:endParaRPr lang="en-US" sz="1600" b="0" i="0">
                        <a:latin typeface="Aptos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0" i="0">
                          <a:latin typeface="Aptos"/>
                        </a:rPr>
                        <a:t>Metrics recorded including: AUC = 0.9086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0" i="0">
                          <a:latin typeface="Aptos"/>
                        </a:rPr>
                        <a:t>Best model stored as a versioned </a:t>
                      </a:r>
                      <a:r>
                        <a:rPr lang="en-US" sz="1600" b="0" i="0">
                          <a:latin typeface="Aptos"/>
                          <a:sym typeface="Inter"/>
                        </a:rPr>
                        <a:t>Spark </a:t>
                      </a:r>
                      <a:r>
                        <a:rPr lang="en-US" sz="1600" b="0" i="0">
                          <a:latin typeface="Aptos"/>
                        </a:rPr>
                        <a:t>ML artifact</a:t>
                      </a:r>
                    </a:p>
                    <a:p>
                      <a:pPr marL="0" marR="0" lvl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0" i="0" u="none" strike="noStrike" cap="none">
                        <a:solidFill>
                          <a:srgbClr val="1A1A1A"/>
                        </a:solidFill>
                        <a:latin typeface="Aptos"/>
                        <a:ea typeface="Inter"/>
                      </a:endParaRPr>
                    </a:p>
                  </a:txBody>
                  <a:tcPr>
                    <a:lnL w="12700" cmpd="sng">
                      <a:solidFill>
                        <a:srgbClr val="FEFFFF"/>
                      </a:solidFill>
                    </a:lnL>
                    <a:lnR w="12700" cmpd="sng">
                      <a:solidFill>
                        <a:srgbClr val="FEFFFF"/>
                      </a:solidFill>
                    </a:lnR>
                    <a:lnT w="38100" cmpd="sng">
                      <a:solidFill>
                        <a:srgbClr val="FEFFFF"/>
                      </a:solidFill>
                    </a:lnT>
                    <a:lnB w="12700" cmpd="sng">
                      <a:solidFill>
                        <a:srgbClr val="FE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85F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9pPr>
                    </a:lstStyle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0" i="0">
                          <a:latin typeface="Aptos"/>
                        </a:rPr>
                        <a:t>Spark MLlib 6-stage pipeline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0" i="0">
                          <a:latin typeface="Aptos"/>
                        </a:rPr>
                        <a:t>Ensures consistent preprocessing across CrossValidator folds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0" i="0">
                          <a:latin typeface="Aptos"/>
                        </a:rPr>
                        <a:t>Trained pipeline can score new wine descriptions with </a:t>
                      </a:r>
                      <a:r>
                        <a:rPr lang="en-US" sz="1600" b="0" i="0">
                          <a:latin typeface="Aptos"/>
                          <a:sym typeface="Inter"/>
                        </a:rPr>
                        <a:t>a </a:t>
                      </a:r>
                      <a:r>
                        <a:rPr lang="en-US" sz="1600" b="0" i="0">
                          <a:latin typeface="Aptos"/>
                        </a:rPr>
                        <a:t>single transform() call</a:t>
                      </a:r>
                    </a:p>
                    <a:p>
                      <a:pPr marL="0" marR="0" lvl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0" i="0" u="none" strike="noStrike" cap="none">
                        <a:solidFill>
                          <a:srgbClr val="1A1A1A"/>
                        </a:solidFill>
                        <a:latin typeface="Aptos"/>
                        <a:ea typeface="Inter"/>
                      </a:endParaRPr>
                    </a:p>
                  </a:txBody>
                  <a:tcPr>
                    <a:lnL w="12700" cmpd="sng">
                      <a:solidFill>
                        <a:srgbClr val="FEFFFF"/>
                      </a:solidFill>
                    </a:lnL>
                    <a:lnR w="12700" cmpd="sng">
                      <a:solidFill>
                        <a:srgbClr val="FEFFFF"/>
                      </a:solidFill>
                    </a:lnR>
                    <a:lnT w="38100" cmpd="sng">
                      <a:solidFill>
                        <a:srgbClr val="FEFFFF"/>
                      </a:solidFill>
                    </a:lnT>
                    <a:lnB w="12700" cmpd="sng">
                      <a:solidFill>
                        <a:srgbClr val="FE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B89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Franklin Gothic Book" panose="020B0503020102020204"/>
                          <a:sym typeface="Arial"/>
                        </a:defRPr>
                      </a:lvl9pPr>
                    </a:lstStyle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0" i="0" dirty="0">
                          <a:latin typeface="Aptos"/>
                        </a:rPr>
                        <a:t>Full experiment metadata captured: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0" i="0" dirty="0">
                          <a:latin typeface="Aptos"/>
                        </a:rPr>
                        <a:t>Random seed (42)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0" i="0" dirty="0">
                          <a:latin typeface="Aptos"/>
                        </a:rPr>
                        <a:t>80/20 train-test split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0" i="0" dirty="0">
                          <a:latin typeface="Aptos"/>
                        </a:rPr>
                        <a:t>Hyperparameter grid values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0" i="0" dirty="0">
                          <a:latin typeface="Aptos"/>
                        </a:rPr>
                        <a:t>Enables model lineage, reproducibility, and rollback to prior versions</a:t>
                      </a:r>
                    </a:p>
                    <a:p>
                      <a:pPr marL="0" marR="0" lvl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0" i="0" u="none" strike="noStrike" cap="none" dirty="0">
                        <a:solidFill>
                          <a:srgbClr val="1A1A1A"/>
                        </a:solidFill>
                        <a:latin typeface="Aptos"/>
                        <a:ea typeface="Inter"/>
                      </a:endParaRPr>
                    </a:p>
                  </a:txBody>
                  <a:tcPr>
                    <a:lnL w="12700" cmpd="sng">
                      <a:solidFill>
                        <a:srgbClr val="FEFFFF"/>
                      </a:solidFill>
                    </a:lnL>
                    <a:lnR w="12700" cmpd="sng">
                      <a:solidFill>
                        <a:srgbClr val="FEFFFF"/>
                      </a:solidFill>
                    </a:lnR>
                    <a:lnT w="38100" cmpd="sng">
                      <a:solidFill>
                        <a:srgbClr val="FEFFFF"/>
                      </a:solidFill>
                    </a:lnT>
                    <a:lnB w="12700" cmpd="sng">
                      <a:solidFill>
                        <a:srgbClr val="FE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45373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B7A7872-4B7A-C7DA-7311-EDE209D230C8}"/>
              </a:ext>
            </a:extLst>
          </p:cNvPr>
          <p:cNvSpPr txBox="1"/>
          <p:nvPr/>
        </p:nvSpPr>
        <p:spPr>
          <a:xfrm>
            <a:off x="258586" y="1065960"/>
            <a:ext cx="11531928" cy="9712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>
                <a:solidFill>
                  <a:srgbClr val="1A1A1A"/>
                </a:solidFill>
                <a:latin typeface="Aptos"/>
                <a:ea typeface="Inter"/>
              </a:rPr>
              <a:t>Production-ready ML </a:t>
            </a:r>
            <a:r>
              <a:rPr lang="en-US" sz="1800">
                <a:solidFill>
                  <a:srgbClr val="1A1A1A"/>
                </a:solidFill>
                <a:latin typeface="Aptos"/>
                <a:ea typeface="Inter"/>
              </a:rPr>
              <a:t>workflow</a:t>
            </a:r>
            <a:r>
              <a:rPr lang="en-US" sz="2000">
                <a:solidFill>
                  <a:srgbClr val="1A1A1A"/>
                </a:solidFill>
                <a:latin typeface="Aptos"/>
                <a:ea typeface="Inter"/>
              </a:rPr>
              <a:t> with experiment tracking, automated pipelines, and versioned model management.</a:t>
            </a:r>
            <a:endParaRPr lang="en-US" sz="200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074235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7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7"/>
          <p:cNvSpPr txBox="1"/>
          <p:nvPr/>
        </p:nvSpPr>
        <p:spPr>
          <a:xfrm>
            <a:off x="160125" y="571500"/>
            <a:ext cx="117913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400" b="1">
                <a:latin typeface="Aptos"/>
                <a:sym typeface="Montserrat ExtraBold"/>
              </a:rPr>
              <a:t>Live Recommendation Engine (</a:t>
            </a:r>
            <a:r>
              <a:rPr lang="en-US" sz="2400" b="1" err="1">
                <a:latin typeface="Aptos"/>
                <a:sym typeface="Montserrat ExtraBold"/>
              </a:rPr>
              <a:t>PySpark</a:t>
            </a:r>
            <a:r>
              <a:rPr lang="en-US" sz="2400" b="1">
                <a:latin typeface="Aptos"/>
                <a:sym typeface="Montserrat ExtraBold"/>
              </a:rPr>
              <a:t>)</a:t>
            </a:r>
            <a:endParaRPr lang="en-US" sz="2400" b="1">
              <a:latin typeface="Aptos"/>
            </a:endParaRPr>
          </a:p>
        </p:txBody>
      </p:sp>
      <p:sp>
        <p:nvSpPr>
          <p:cNvPr id="595" name="Google Shape;595;p37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E9BDA8-3264-4428-3466-2A9A7F71F426}"/>
              </a:ext>
            </a:extLst>
          </p:cNvPr>
          <p:cNvSpPr txBox="1"/>
          <p:nvPr/>
        </p:nvSpPr>
        <p:spPr>
          <a:xfrm>
            <a:off x="691321" y="1385084"/>
            <a:ext cx="10794813" cy="15342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Char char="•"/>
            </a:pPr>
            <a:r>
              <a:rPr lang="en-US" sz="1600" b="1" dirty="0">
                <a:latin typeface="Aptos"/>
              </a:rPr>
              <a:t>Implemented using </a:t>
            </a:r>
            <a:r>
              <a:rPr lang="en-US" sz="1600" b="1" dirty="0" err="1">
                <a:latin typeface="Aptos"/>
              </a:rPr>
              <a:t>PySpark</a:t>
            </a:r>
            <a:r>
              <a:rPr lang="en-US" sz="1600" b="1" dirty="0">
                <a:latin typeface="Aptos"/>
              </a:rPr>
              <a:t> </a:t>
            </a:r>
            <a:r>
              <a:rPr lang="en-US" sz="1600" b="1" dirty="0" err="1">
                <a:latin typeface="Aptos"/>
              </a:rPr>
              <a:t>DataFrame</a:t>
            </a:r>
            <a:r>
              <a:rPr lang="en-US" sz="1600" b="1" dirty="0">
                <a:latin typeface="Aptos"/>
              </a:rPr>
              <a:t> filtering</a:t>
            </a:r>
            <a:endParaRPr lang="en-US" dirty="0"/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 sz="1600" b="1" dirty="0">
                <a:latin typeface="Aptos"/>
              </a:rPr>
              <a:t>Inputs:</a:t>
            </a:r>
            <a:r>
              <a:rPr lang="en-US" sz="1600" dirty="0">
                <a:latin typeface="Aptos"/>
              </a:rPr>
              <a:t> flavor keyword + price constraint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 sz="1600" b="1" dirty="0">
                <a:latin typeface="Aptos"/>
              </a:rPr>
              <a:t>Output: </a:t>
            </a:r>
            <a:r>
              <a:rPr lang="en-US" sz="1600" dirty="0">
                <a:latin typeface="Aptos"/>
              </a:rPr>
              <a:t>Top 10 wines ranked by critic score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 sz="1600" b="1" dirty="0">
                <a:latin typeface="Aptos"/>
              </a:rPr>
              <a:t>Demonstrates a real-time analytics use case</a:t>
            </a:r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B793276-4EA5-B7E6-84BA-AB7FAB50E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21" y="3967288"/>
            <a:ext cx="9633818" cy="2185576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B9F5A494-DD7D-85F7-9AF8-F79438DCB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390" y="1316727"/>
            <a:ext cx="2011534" cy="201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602;p38" descr="image.png">
            <a:extLst>
              <a:ext uri="{FF2B5EF4-FFF2-40B4-BE49-F238E27FC236}">
                <a16:creationId xmlns:a16="http://schemas.microsoft.com/office/drawing/2014/main" id="{B4F3C391-036A-059A-CAC0-C73CA40E62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5318532"/>
            <a:ext cx="10668000" cy="1071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02;p38" descr="image.png">
            <a:extLst>
              <a:ext uri="{FF2B5EF4-FFF2-40B4-BE49-F238E27FC236}">
                <a16:creationId xmlns:a16="http://schemas.microsoft.com/office/drawing/2014/main" id="{BBE52A8B-F995-E4D1-67E4-2F66401A40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988619"/>
            <a:ext cx="10668000" cy="1071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369457"/>
            <a:ext cx="10668000" cy="1071086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8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8"/>
          <p:cNvSpPr txBox="1"/>
          <p:nvPr/>
        </p:nvSpPr>
        <p:spPr>
          <a:xfrm>
            <a:off x="148125" y="571500"/>
            <a:ext cx="119053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latin typeface="Aptos"/>
                <a:ea typeface="Montserrat ExtraBold"/>
                <a:cs typeface="Montserrat ExtraBold"/>
                <a:sym typeface="Montserrat ExtraBold"/>
              </a:rPr>
              <a:t>STRATEGIC INSIGHTS</a:t>
            </a:r>
            <a:endParaRPr lang="en-US" sz="2400" b="1" dirty="0">
              <a:latin typeface="Aptos"/>
            </a:endParaRPr>
          </a:p>
        </p:txBody>
      </p:sp>
      <p:sp>
        <p:nvSpPr>
          <p:cNvPr id="607" name="Google Shape;607;p38"/>
          <p:cNvSpPr txBox="1"/>
          <p:nvPr/>
        </p:nvSpPr>
        <p:spPr>
          <a:xfrm>
            <a:off x="1009650" y="1504950"/>
            <a:ext cx="59185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 b="1" dirty="0">
                <a:solidFill>
                  <a:srgbClr val="800020"/>
                </a:solidFill>
                <a:latin typeface="Aptos"/>
              </a:rPr>
              <a:t>Wine Descriptions Predict Quality</a:t>
            </a:r>
          </a:p>
        </p:txBody>
      </p:sp>
      <p:sp>
        <p:nvSpPr>
          <p:cNvPr id="609" name="Google Shape;609;p38"/>
          <p:cNvSpPr txBox="1"/>
          <p:nvPr/>
        </p:nvSpPr>
        <p:spPr>
          <a:xfrm>
            <a:off x="1009650" y="1832513"/>
            <a:ext cx="10172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NLP classification using only </a:t>
            </a:r>
            <a:r>
              <a:rPr lang="en-US" sz="1600" b="0" i="0" u="none" strike="noStrike" cap="none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tasting notes </a:t>
            </a:r>
            <a:r>
              <a:rPr lang="en-US" sz="1600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achieved </a:t>
            </a:r>
            <a:r>
              <a:rPr lang="en-US" sz="1600" b="1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AUC = 0.91</a:t>
            </a:r>
            <a:r>
              <a:rPr lang="en-US" sz="1600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, showing that reviewer language strongly </a:t>
            </a:r>
            <a:r>
              <a:rPr lang="en-US" sz="1600" b="0" i="0" u="none" strike="noStrike" cap="none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signals</a:t>
            </a:r>
            <a:r>
              <a:rPr lang="en-US" sz="1600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 wine </a:t>
            </a:r>
            <a:r>
              <a:rPr lang="en-US" sz="1600" b="0" i="0" u="none" strike="noStrike" cap="none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quality.</a:t>
            </a:r>
            <a:endParaRPr lang="en-US" sz="1600" dirty="0">
              <a:latin typeface="Aptos"/>
            </a:endParaRPr>
          </a:p>
        </p:txBody>
      </p:sp>
      <p:sp>
        <p:nvSpPr>
          <p:cNvPr id="612" name="Google Shape;612;p38"/>
          <p:cNvSpPr txBox="1"/>
          <p:nvPr/>
        </p:nvSpPr>
        <p:spPr>
          <a:xfrm>
            <a:off x="1009650" y="3125921"/>
            <a:ext cx="10172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All top-performing variety–</a:t>
            </a:r>
            <a:r>
              <a:rPr lang="en-US" sz="1600" b="0" i="0" u="none" strike="noStrike" cap="none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price </a:t>
            </a:r>
            <a:r>
              <a:rPr lang="en-US" sz="1600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combinations occurred in the </a:t>
            </a:r>
            <a:r>
              <a:rPr lang="en-US" sz="1600" b="1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&gt;$100 tier</a:t>
            </a:r>
            <a:r>
              <a:rPr lang="en-US" sz="1600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, confirming that the highest </a:t>
            </a:r>
            <a:r>
              <a:rPr lang="en-US" sz="1600" b="0" i="0" u="none" strike="noStrike" cap="none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critical </a:t>
            </a:r>
            <a:r>
              <a:rPr lang="en-US" sz="1600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scores concentrate in luxury wines</a:t>
            </a:r>
            <a:endParaRPr lang="en-US" sz="1600" dirty="0">
              <a:latin typeface="Aptos"/>
            </a:endParaRPr>
          </a:p>
        </p:txBody>
      </p:sp>
      <p:sp>
        <p:nvSpPr>
          <p:cNvPr id="613" name="Google Shape;613;p38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602;p38" descr="image.png">
            <a:extLst>
              <a:ext uri="{FF2B5EF4-FFF2-40B4-BE49-F238E27FC236}">
                <a16:creationId xmlns:a16="http://schemas.microsoft.com/office/drawing/2014/main" id="{A0599082-6E0A-AE44-768E-8D2D671A43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679038"/>
            <a:ext cx="10668000" cy="107108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7;p38">
            <a:extLst>
              <a:ext uri="{FF2B5EF4-FFF2-40B4-BE49-F238E27FC236}">
                <a16:creationId xmlns:a16="http://schemas.microsoft.com/office/drawing/2014/main" id="{90B77D51-6F05-DB1A-FF5D-1A46A0F4FDDC}"/>
              </a:ext>
            </a:extLst>
          </p:cNvPr>
          <p:cNvSpPr txBox="1"/>
          <p:nvPr/>
        </p:nvSpPr>
        <p:spPr>
          <a:xfrm>
            <a:off x="1009649" y="2811221"/>
            <a:ext cx="591856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 b="1" dirty="0">
                <a:solidFill>
                  <a:srgbClr val="800020"/>
                </a:solidFill>
                <a:latin typeface="Aptos"/>
              </a:rPr>
              <a:t>Luxury Wines Receive the Highest Ratings</a:t>
            </a:r>
          </a:p>
        </p:txBody>
      </p:sp>
      <p:sp>
        <p:nvSpPr>
          <p:cNvPr id="4" name="Google Shape;625;p39">
            <a:extLst>
              <a:ext uri="{FF2B5EF4-FFF2-40B4-BE49-F238E27FC236}">
                <a16:creationId xmlns:a16="http://schemas.microsoft.com/office/drawing/2014/main" id="{1D04F68E-2081-33AD-8A07-C26533494D6E}"/>
              </a:ext>
            </a:extLst>
          </p:cNvPr>
          <p:cNvSpPr txBox="1"/>
          <p:nvPr/>
        </p:nvSpPr>
        <p:spPr>
          <a:xfrm>
            <a:off x="1009649" y="4106724"/>
            <a:ext cx="717653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 b="1" i="0" u="none" strike="noStrike" cap="none" dirty="0">
                <a:solidFill>
                  <a:srgbClr val="800020"/>
                </a:solidFill>
                <a:latin typeface="Aptos"/>
                <a:ea typeface="Montserrat"/>
                <a:sym typeface="Montserrat"/>
              </a:rPr>
              <a:t>Riesling </a:t>
            </a:r>
            <a:r>
              <a:rPr lang="en-US" sz="1800" b="1" dirty="0">
                <a:solidFill>
                  <a:srgbClr val="800020"/>
                </a:solidFill>
                <a:latin typeface="Aptos"/>
                <a:ea typeface="Montserrat"/>
                <a:sym typeface="Montserrat"/>
              </a:rPr>
              <a:t>Shows the Most Reliable Premium Quality</a:t>
            </a:r>
            <a:endParaRPr lang="en-US" sz="1800" b="1" dirty="0">
              <a:solidFill>
                <a:srgbClr val="800020"/>
              </a:solidFill>
              <a:latin typeface="Aptos"/>
            </a:endParaRPr>
          </a:p>
        </p:txBody>
      </p:sp>
      <p:sp>
        <p:nvSpPr>
          <p:cNvPr id="5" name="Google Shape;627;p39">
            <a:extLst>
              <a:ext uri="{FF2B5EF4-FFF2-40B4-BE49-F238E27FC236}">
                <a16:creationId xmlns:a16="http://schemas.microsoft.com/office/drawing/2014/main" id="{860A3237-0996-A631-43C6-A857EE461B45}"/>
              </a:ext>
            </a:extLst>
          </p:cNvPr>
          <p:cNvSpPr txBox="1"/>
          <p:nvPr/>
        </p:nvSpPr>
        <p:spPr>
          <a:xfrm>
            <a:off x="1009649" y="4424299"/>
            <a:ext cx="10172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0" i="0" u="none" strike="noStrike" cap="none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Riesling </a:t>
            </a:r>
            <a:r>
              <a:rPr lang="en-US" sz="1600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&gt;$100 averaged </a:t>
            </a:r>
            <a:r>
              <a:rPr lang="en-US" sz="1600" b="1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94.04 points across 106 reviews</a:t>
            </a:r>
            <a:r>
              <a:rPr lang="en-US" sz="1600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, making it </a:t>
            </a:r>
            <a:r>
              <a:rPr lang="en-US" sz="1600" b="0" i="0" u="none" strike="noStrike" cap="none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the most statistically reliable </a:t>
            </a:r>
            <a:r>
              <a:rPr lang="en-US" sz="1600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high-end </a:t>
            </a:r>
            <a:r>
              <a:rPr lang="en-US" sz="1600" b="0" i="0" u="none" strike="noStrike" cap="none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category.</a:t>
            </a:r>
            <a:endParaRPr lang="en-US" sz="1600" dirty="0">
              <a:latin typeface="Aptos"/>
            </a:endParaRPr>
          </a:p>
        </p:txBody>
      </p:sp>
      <p:sp>
        <p:nvSpPr>
          <p:cNvPr id="7" name="Google Shape;628;p39">
            <a:extLst>
              <a:ext uri="{FF2B5EF4-FFF2-40B4-BE49-F238E27FC236}">
                <a16:creationId xmlns:a16="http://schemas.microsoft.com/office/drawing/2014/main" id="{0DDFC021-AA6A-4B98-6A24-AD7D784508B9}"/>
              </a:ext>
            </a:extLst>
          </p:cNvPr>
          <p:cNvSpPr txBox="1"/>
          <p:nvPr/>
        </p:nvSpPr>
        <p:spPr>
          <a:xfrm>
            <a:off x="1009649" y="5422471"/>
            <a:ext cx="71718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 b="1" dirty="0">
                <a:solidFill>
                  <a:srgbClr val="800020"/>
                </a:solidFill>
                <a:latin typeface="Aptos"/>
                <a:ea typeface="Montserrat"/>
                <a:sym typeface="Montserrat"/>
              </a:rPr>
              <a:t>Citrus-Forward Wines Offer Strong Value Under </a:t>
            </a:r>
            <a:r>
              <a:rPr lang="en-US" sz="1800" b="1" i="0" u="none" strike="noStrike" cap="none" dirty="0">
                <a:solidFill>
                  <a:srgbClr val="800020"/>
                </a:solidFill>
                <a:latin typeface="Aptos"/>
                <a:ea typeface="Montserrat"/>
                <a:sym typeface="Montserrat"/>
              </a:rPr>
              <a:t>$30</a:t>
            </a:r>
            <a:endParaRPr lang="en-US" sz="1800" b="1" dirty="0">
              <a:solidFill>
                <a:srgbClr val="800020"/>
              </a:solidFill>
              <a:latin typeface="Aptos"/>
            </a:endParaRPr>
          </a:p>
        </p:txBody>
      </p:sp>
      <p:sp>
        <p:nvSpPr>
          <p:cNvPr id="8" name="Google Shape;630;p39">
            <a:extLst>
              <a:ext uri="{FF2B5EF4-FFF2-40B4-BE49-F238E27FC236}">
                <a16:creationId xmlns:a16="http://schemas.microsoft.com/office/drawing/2014/main" id="{32D1F11E-CB17-DA7C-DF37-612F53BB3A50}"/>
              </a:ext>
            </a:extLst>
          </p:cNvPr>
          <p:cNvSpPr txBox="1"/>
          <p:nvPr/>
        </p:nvSpPr>
        <p:spPr>
          <a:xfrm>
            <a:off x="1009649" y="5753670"/>
            <a:ext cx="10172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Filtering </a:t>
            </a:r>
            <a:r>
              <a:rPr lang="en-US" sz="1600" b="0" i="0" u="none" strike="noStrike" cap="none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for </a:t>
            </a:r>
            <a:r>
              <a:rPr lang="en-US" sz="1600" b="1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“citrus” descriptors </a:t>
            </a:r>
            <a:r>
              <a:rPr lang="en-US" sz="1600" b="1" i="0" u="none" strike="noStrike" cap="none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under $30</a:t>
            </a:r>
            <a:r>
              <a:rPr lang="en-US" sz="1600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 surfaces wines scoring </a:t>
            </a:r>
            <a:r>
              <a:rPr lang="en-US" sz="1600" b="1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95–96 points</a:t>
            </a:r>
            <a:r>
              <a:rPr lang="en-US" sz="1600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, highlighting high-value regions like </a:t>
            </a:r>
            <a:r>
              <a:rPr lang="en-US" sz="1600" b="1" dirty="0" err="1">
                <a:solidFill>
                  <a:srgbClr val="1A1A1A"/>
                </a:solidFill>
                <a:latin typeface="Aptos"/>
                <a:ea typeface="Inter"/>
                <a:sym typeface="Inter"/>
              </a:rPr>
              <a:t>Kamptal</a:t>
            </a:r>
            <a:r>
              <a:rPr lang="en-US" sz="1600" b="1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, Alsace</a:t>
            </a:r>
            <a:r>
              <a:rPr lang="en-US" sz="1600" b="1" i="0" u="none" strike="noStrike" cap="none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, </a:t>
            </a:r>
            <a:r>
              <a:rPr lang="en-US" sz="1600" b="1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and Columbia Valley</a:t>
            </a:r>
            <a:r>
              <a:rPr lang="en-US" sz="1600" b="0" i="0" u="none" strike="noStrike" cap="none" dirty="0">
                <a:solidFill>
                  <a:srgbClr val="1A1A1A"/>
                </a:solidFill>
                <a:latin typeface="Aptos"/>
                <a:ea typeface="Inter"/>
                <a:sym typeface="Inter"/>
              </a:rPr>
              <a:t>.</a:t>
            </a:r>
            <a:endParaRPr lang="en-US" sz="1600" dirty="0"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04;p38">
            <a:extLst>
              <a:ext uri="{FF2B5EF4-FFF2-40B4-BE49-F238E27FC236}">
                <a16:creationId xmlns:a16="http://schemas.microsoft.com/office/drawing/2014/main" id="{D26D1226-2363-3202-1C07-9087CB392166}"/>
              </a:ext>
            </a:extLst>
          </p:cNvPr>
          <p:cNvSpPr/>
          <p:nvPr/>
        </p:nvSpPr>
        <p:spPr>
          <a:xfrm>
            <a:off x="0" y="6755275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613;p38">
            <a:extLst>
              <a:ext uri="{FF2B5EF4-FFF2-40B4-BE49-F238E27FC236}">
                <a16:creationId xmlns:a16="http://schemas.microsoft.com/office/drawing/2014/main" id="{C6F288FB-A867-0BF3-DE83-6C93AE496287}"/>
              </a:ext>
            </a:extLst>
          </p:cNvPr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2;p16" descr="image.png">
            <a:extLst>
              <a:ext uri="{FF2B5EF4-FFF2-40B4-BE49-F238E27FC236}">
                <a16:creationId xmlns:a16="http://schemas.microsoft.com/office/drawing/2014/main" id="{BF4A47B2-C184-A322-47E2-BEAC9D6B98D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6750" y="2033588"/>
            <a:ext cx="3159016" cy="255943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C440E1-7792-1932-B68E-ED1377EEE938}"/>
              </a:ext>
            </a:extLst>
          </p:cNvPr>
          <p:cNvSpPr txBox="1"/>
          <p:nvPr/>
        </p:nvSpPr>
        <p:spPr>
          <a:xfrm>
            <a:off x="947911" y="2653532"/>
            <a:ext cx="277473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200"/>
              </a:spcBef>
              <a:spcAft>
                <a:spcPts val="200"/>
              </a:spcAft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MongoDB Spark Connector: Replace the </a:t>
            </a:r>
            <a:r>
              <a:rPr lang="en-US" sz="1400" b="1" dirty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PyMongo</a:t>
            </a: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→ Pandas → Spark path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with a direct MongoDB Spark Connector integration for true distributed ingestion without a Pandas intermediary.</a:t>
            </a:r>
          </a:p>
        </p:txBody>
      </p:sp>
      <p:pic>
        <p:nvPicPr>
          <p:cNvPr id="12" name="Google Shape;122;p16" descr="image.png">
            <a:extLst>
              <a:ext uri="{FF2B5EF4-FFF2-40B4-BE49-F238E27FC236}">
                <a16:creationId xmlns:a16="http://schemas.microsoft.com/office/drawing/2014/main" id="{643056DA-D117-0034-32B2-8615B04D520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55522" y="2033588"/>
            <a:ext cx="3159016" cy="255943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3" name="Google Shape;122;p16" descr="image.png">
            <a:extLst>
              <a:ext uri="{FF2B5EF4-FFF2-40B4-BE49-F238E27FC236}">
                <a16:creationId xmlns:a16="http://schemas.microsoft.com/office/drawing/2014/main" id="{DCB150A4-7299-34A5-D691-CB94D11275B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76900" y="2023078"/>
            <a:ext cx="3159016" cy="255943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D63556A-2817-2BAC-93F0-616DF4024625}"/>
              </a:ext>
            </a:extLst>
          </p:cNvPr>
          <p:cNvSpPr txBox="1"/>
          <p:nvPr/>
        </p:nvSpPr>
        <p:spPr>
          <a:xfrm>
            <a:off x="4694362" y="2653532"/>
            <a:ext cx="277473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Transformer-Based Text Embeddings: Replace TF-IDF with sentence embeddings (e.g., BERT, Wine-BERT) to capture semantic relationships between flavor descriptors that sparse bag-of-words methods miss.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510EB2-0DFA-B613-78AC-D54C6B76C4E8}"/>
              </a:ext>
            </a:extLst>
          </p:cNvPr>
          <p:cNvSpPr txBox="1"/>
          <p:nvPr/>
        </p:nvSpPr>
        <p:spPr>
          <a:xfrm>
            <a:off x="8324195" y="2703826"/>
            <a:ext cx="277473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Reviewer-Adjusted Scoring: Build a reviewer bias correction model (analogous to adjusted plus-minus in sports analytics) to produce normalized quality scores that are comparable across reviewers and regions.</a:t>
            </a:r>
          </a:p>
        </p:txBody>
      </p:sp>
      <p:sp>
        <p:nvSpPr>
          <p:cNvPr id="17" name="Google Shape;605;p38">
            <a:extLst>
              <a:ext uri="{FF2B5EF4-FFF2-40B4-BE49-F238E27FC236}">
                <a16:creationId xmlns:a16="http://schemas.microsoft.com/office/drawing/2014/main" id="{5B80BD8E-ECD9-3EC5-0410-71E51B365700}"/>
              </a:ext>
            </a:extLst>
          </p:cNvPr>
          <p:cNvSpPr txBox="1"/>
          <p:nvPr/>
        </p:nvSpPr>
        <p:spPr>
          <a:xfrm>
            <a:off x="143316" y="718899"/>
            <a:ext cx="119053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Aptos"/>
              </a:rPr>
              <a:t>FUTURE IMPROVEMENTS</a:t>
            </a:r>
          </a:p>
        </p:txBody>
      </p:sp>
      <p:pic>
        <p:nvPicPr>
          <p:cNvPr id="18" name="Google Shape;132;p16" descr="image.png">
            <a:extLst>
              <a:ext uri="{FF2B5EF4-FFF2-40B4-BE49-F238E27FC236}">
                <a16:creationId xmlns:a16="http://schemas.microsoft.com/office/drawing/2014/main" id="{9FD2553F-53F3-42D0-0886-321C67E345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4277" y="211462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3;p16" descr="image.png">
            <a:extLst>
              <a:ext uri="{FF2B5EF4-FFF2-40B4-BE49-F238E27FC236}">
                <a16:creationId xmlns:a16="http://schemas.microsoft.com/office/drawing/2014/main" id="{340F7399-1CE6-9C9B-FEAE-17F8359B4DE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00728" y="211462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34;p16" descr="image.png">
            <a:extLst>
              <a:ext uri="{FF2B5EF4-FFF2-40B4-BE49-F238E27FC236}">
                <a16:creationId xmlns:a16="http://schemas.microsoft.com/office/drawing/2014/main" id="{A5FBCB2D-53C4-78C9-353D-27E033AB34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11862" y="2135648"/>
            <a:ext cx="340129" cy="381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588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496" y="2061166"/>
            <a:ext cx="4646606" cy="719757"/>
          </a:xfrm>
        </p:spPr>
        <p:txBody>
          <a:bodyPr/>
          <a:lstStyle/>
          <a:p>
            <a:pPr algn="l"/>
            <a:r>
              <a:rPr lang="en-US" sz="5400" b="1">
                <a:latin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/>
          <p:nvPr/>
        </p:nvSpPr>
        <p:spPr>
          <a:xfrm>
            <a:off x="0" y="6755275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490840" y="598781"/>
            <a:ext cx="109513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none" strike="noStrike" cap="none" dirty="0">
                <a:solidFill>
                  <a:srgbClr val="000000"/>
                </a:solidFill>
                <a:latin typeface="Aptos" panose="020B0004020202020204" pitchFamily="34" charset="0"/>
                <a:ea typeface="Montserrat ExtraBold"/>
                <a:cs typeface="Montserrat ExtraBold"/>
                <a:sym typeface="Montserrat ExtraBold"/>
              </a:rPr>
              <a:t>TOOLS &amp; TECHNOLOGIES</a:t>
            </a:r>
            <a:endParaRPr sz="2400" b="1" dirty="0">
              <a:latin typeface="Aptos" panose="020B0004020202020204" pitchFamily="34" charset="0"/>
            </a:endParaRPr>
          </a:p>
        </p:txBody>
      </p:sp>
      <p:graphicFrame>
        <p:nvGraphicFramePr>
          <p:cNvPr id="206" name="Google Shape;206;p19"/>
          <p:cNvGraphicFramePr/>
          <p:nvPr>
            <p:extLst>
              <p:ext uri="{D42A27DB-BD31-4B8C-83A1-F6EECF244321}">
                <p14:modId xmlns:p14="http://schemas.microsoft.com/office/powerpoint/2010/main" val="2341885666"/>
              </p:ext>
            </p:extLst>
          </p:nvPr>
        </p:nvGraphicFramePr>
        <p:xfrm>
          <a:off x="1870577" y="1433151"/>
          <a:ext cx="8751787" cy="3000325"/>
        </p:xfrm>
        <a:graphic>
          <a:graphicData uri="http://schemas.openxmlformats.org/drawingml/2006/table">
            <a:tbl>
              <a:tblPr firstRow="1" bandRow="1">
                <a:noFill/>
                <a:tableStyleId>{555891C5-EBDD-475E-AD31-4251C65AAAA6}</a:tableStyleId>
              </a:tblPr>
              <a:tblGrid>
                <a:gridCol w="2169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8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4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Tech Stack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73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Component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73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Strategic Role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73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Databricks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Unified Platform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Compute, Storage &amp; Ingestion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Apache Spark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Core Engine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Distributed ETL and ML Training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MongoDB Atlas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NoSQL Database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Live Data Ingress Source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MLflow 3.10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Lifecycle Management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Governance &amp; Reproducibility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 3.12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Base Language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Development Layer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5" name="Google Shape;225;p19"/>
          <p:cNvSpPr/>
          <p:nvPr/>
        </p:nvSpPr>
        <p:spPr>
          <a:xfrm>
            <a:off x="0" y="-9132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701378" y="576047"/>
            <a:ext cx="41737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none" strike="noStrike" cap="none" dirty="0">
                <a:solidFill>
                  <a:srgbClr val="000000"/>
                </a:solidFill>
                <a:latin typeface="+mn-lt"/>
                <a:ea typeface="Montserrat ExtraBold"/>
                <a:cs typeface="Montserrat ExtraBold"/>
                <a:sym typeface="Montserrat ExtraBold"/>
              </a:rPr>
              <a:t>RAW DATA SOURCE</a:t>
            </a:r>
            <a:endParaRPr sz="2400" b="1" dirty="0">
              <a:latin typeface="+mn-lt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762000" y="1257300"/>
            <a:ext cx="316039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373A36"/>
                </a:solidFill>
                <a:latin typeface="+mn-lt"/>
                <a:ea typeface="Montserrat"/>
                <a:cs typeface="Montserrat"/>
                <a:sym typeface="Montserrat"/>
              </a:rPr>
              <a:t>MongoDB Atlas Cluster</a:t>
            </a:r>
            <a:endParaRPr dirty="0">
              <a:latin typeface="+mn-lt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762000" y="1609725"/>
            <a:ext cx="3009900" cy="19050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762000" y="1840900"/>
            <a:ext cx="522211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The source is a cloud-native </a:t>
            </a:r>
            <a:r>
              <a:rPr lang="en-US" sz="1600" b="1" i="0" u="none" strike="noStrike" cap="none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Cluster0</a:t>
            </a:r>
            <a:r>
              <a:rPr lang="en-US" sz="1600" b="0" i="0" u="none" strike="noStrike" cap="none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 environment containing 130,000 JSON documents.</a:t>
            </a:r>
            <a:endParaRPr sz="1600" dirty="0">
              <a:latin typeface="+mn-lt"/>
            </a:endParaRPr>
          </a:p>
        </p:txBody>
      </p:sp>
      <p:pic>
        <p:nvPicPr>
          <p:cNvPr id="238" name="Google Shape;23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3399" y="1882505"/>
            <a:ext cx="142875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5513649" y="3025505"/>
            <a:ext cx="50482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A1A1A"/>
                </a:solidFill>
                <a:latin typeface="+mn-lt"/>
                <a:ea typeface="Inter ExtraBold"/>
                <a:cs typeface="Inter ExtraBold"/>
                <a:sym typeface="Inter ExtraBold"/>
              </a:rPr>
              <a:t>DATA INGRESS LAYER</a:t>
            </a:r>
            <a:endParaRPr dirty="0">
              <a:latin typeface="+mn-lt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714375" y="2740967"/>
            <a:ext cx="54292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US" sz="1600" b="1" i="0" u="none" strike="noStrike" cap="none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Verified Volume:</a:t>
            </a:r>
            <a:r>
              <a:rPr lang="en-US" sz="1600" b="0" i="0" u="none" strike="noStrike" cap="none" dirty="0">
                <a:solidFill>
                  <a:srgbClr val="1A1A1A"/>
                </a:solidFill>
                <a:latin typeface="+mn-lt"/>
                <a:ea typeface="Inter"/>
                <a:cs typeface="Inter"/>
                <a:sym typeface="Inter"/>
              </a:rPr>
              <a:t> 129,971 records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600" b="1" dirty="0">
                <a:solidFill>
                  <a:srgbClr val="1A1A1A"/>
                </a:solidFill>
                <a:ea typeface="Inter"/>
                <a:cs typeface="Inter"/>
                <a:sym typeface="Inter"/>
              </a:rPr>
              <a:t>Reliability:</a:t>
            </a:r>
            <a:r>
              <a:rPr lang="en-US" sz="1600" dirty="0">
                <a:solidFill>
                  <a:srgbClr val="1A1A1A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1600" dirty="0" err="1">
                <a:solidFill>
                  <a:srgbClr val="1A1A1A"/>
                </a:solidFill>
                <a:ea typeface="Inter"/>
                <a:cs typeface="Inter"/>
                <a:sym typeface="Inter"/>
              </a:rPr>
              <a:t>count_documents</a:t>
            </a:r>
            <a:r>
              <a:rPr lang="en-US" sz="1600" dirty="0">
                <a:solidFill>
                  <a:srgbClr val="1A1A1A"/>
                </a:solidFill>
                <a:ea typeface="Inter"/>
                <a:cs typeface="Inter"/>
                <a:sym typeface="Inter"/>
              </a:rPr>
              <a:t>() verified pre-ingestion</a:t>
            </a: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600" b="1" dirty="0">
                <a:solidFill>
                  <a:srgbClr val="1A1A1A"/>
                </a:solidFill>
                <a:ea typeface="Inter"/>
                <a:cs typeface="Inter"/>
                <a:sym typeface="Inter"/>
              </a:rPr>
              <a:t>  Elasticity:</a:t>
            </a:r>
            <a:r>
              <a:rPr lang="en-US" sz="1600" dirty="0">
                <a:solidFill>
                  <a:srgbClr val="1A1A1A"/>
                </a:solidFill>
                <a:ea typeface="Inter"/>
                <a:cs typeface="Inter"/>
                <a:sym typeface="Inter"/>
              </a:rPr>
              <a:t> Scalable for future batch updates</a:t>
            </a:r>
            <a:endParaRPr lang="en-US" sz="1600" dirty="0"/>
          </a:p>
        </p:txBody>
      </p:sp>
      <p:sp>
        <p:nvSpPr>
          <p:cNvPr id="246" name="Google Shape;246;p20"/>
          <p:cNvSpPr/>
          <p:nvPr/>
        </p:nvSpPr>
        <p:spPr>
          <a:xfrm>
            <a:off x="0" y="0"/>
            <a:ext cx="12192000" cy="142875"/>
          </a:xfrm>
          <a:prstGeom prst="rect">
            <a:avLst/>
          </a:prstGeom>
          <a:solidFill>
            <a:srgbClr val="CEB8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1516</Words>
  <Application>Microsoft Macintosh PowerPoint</Application>
  <PresentationFormat>Widescreen</PresentationFormat>
  <Paragraphs>239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Courier New</vt:lpstr>
      <vt:lpstr>Symbol</vt:lpstr>
      <vt:lpstr>Inter</vt:lpstr>
      <vt:lpstr>Montserrat</vt:lpstr>
      <vt:lpstr>Aptos</vt:lpstr>
      <vt:lpstr>Arial</vt:lpstr>
      <vt:lpstr>Acumin Pro Semibold</vt:lpstr>
      <vt:lpstr>Acumin Pro Medium</vt:lpstr>
      <vt:lpstr>Acumin Pro</vt:lpstr>
      <vt:lpstr>Calibri</vt:lpstr>
      <vt:lpstr>Aptos SemiBold</vt:lpstr>
      <vt:lpstr>Wingdings</vt:lpstr>
      <vt:lpstr>Office Theme</vt:lpstr>
      <vt:lpstr>Wine Analysis &amp; Recommendation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Kashika Chopra</cp:lastModifiedBy>
  <cp:revision>5</cp:revision>
  <dcterms:modified xsi:type="dcterms:W3CDTF">2026-03-06T02:03:16Z</dcterms:modified>
</cp:coreProperties>
</file>